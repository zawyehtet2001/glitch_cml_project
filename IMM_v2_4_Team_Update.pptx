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2926080" cy="1905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TRANSMISSION // SUBCONSCIOUS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4400" b="1">
                <a:solidFill>
                  <a:srgbClr val="E5E5E5"/>
                </a:solidFill>
                <a:latin typeface="Courier New"/>
              </a:defRPr>
            </a:pPr>
            <a:r>
              <a:t>INTERACTIVE MEMORY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v2.4 // NODE-BASED VISUAL PROGRAMMING + 2D-3D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228600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0">
                <a:solidFill>
                  <a:srgbClr val="8A8A8A"/>
                </a:solidFill>
                <a:latin typeface="Courier New"/>
              </a:defRPr>
            </a:pPr>
            <a:r>
              <a:t>Creative Machine Learning // Term 6 // SUTD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0">
                <a:solidFill>
                  <a:srgbClr val="8A8A8A"/>
                </a:solidFill>
                <a:latin typeface="Courier New"/>
              </a:defRPr>
            </a:pPr>
            <a:r>
              <a:t>Team 10   JW  /  NT  /  VP  /  ZH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943600"/>
            <a:ext cx="1069848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STATUS  ·  PRE-CRIT POLISH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0350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BUILD 2026-04-20   CRIT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01 //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Glitch = meaningful distortion of spatial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600" b="1">
                <a:solidFill>
                  <a:srgbClr val="E5E5E5"/>
                </a:solidFill>
                <a:latin typeface="Georgia"/>
              </a:defRPr>
            </a:pPr>
            <a:r>
              <a:t>The glitch is not aesthetic.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600" b="0">
                <a:solidFill>
                  <a:srgbClr val="D4A017"/>
                </a:solidFill>
                <a:latin typeface="Georgia"/>
              </a:defRPr>
            </a:pPr>
            <a:r>
              <a:t>It is how the subconscious warps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8A8A8A"/>
                </a:solidFill>
                <a:latin typeface="Courier New"/>
              </a:defRPr>
            </a:pPr>
            <a:r>
              <a:t>  Memory is never a photograph.</a:t>
            </a:r>
          </a:p>
          <a:p>
            <a:pPr>
              <a:spcAft>
                <a:spcPts val="500"/>
              </a:spcAft>
              <a:defRPr sz="1300">
                <a:solidFill>
                  <a:srgbClr val="8A8A8A"/>
                </a:solidFill>
                <a:latin typeface="Courier New"/>
              </a:defRPr>
            </a:pPr>
            <a:r>
              <a:t>  It omits, compresses, tilts, and fuses.</a:t>
            </a:r>
          </a:p>
          <a:p>
            <a:pPr>
              <a:spcAft>
                <a:spcPts val="500"/>
              </a:spcAft>
              <a:defRPr sz="1300">
                <a:solidFill>
                  <a:srgbClr val="8A8A8A"/>
                </a:solidFill>
                <a:latin typeface="Courier New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8A8A8A"/>
                </a:solidFill>
                <a:latin typeface="Courier New"/>
              </a:defRPr>
            </a:pPr>
            <a:r>
              <a:t>  We map these distortions onto form:</a:t>
            </a:r>
          </a:p>
          <a:p>
            <a:pPr>
              <a:spcAft>
                <a:spcPts val="500"/>
              </a:spcAft>
              <a:defRPr sz="1300">
                <a:solidFill>
                  <a:srgbClr val="8A8A8A"/>
                </a:solidFill>
                <a:latin typeface="Courier New"/>
              </a:defRPr>
            </a:pPr>
            <a:r>
              <a:t>    -  scored parameters  -&gt;  geometric operations</a:t>
            </a:r>
          </a:p>
          <a:p>
            <a:pPr>
              <a:spcAft>
                <a:spcPts val="500"/>
              </a:spcAft>
              <a:defRPr sz="1300">
                <a:solidFill>
                  <a:srgbClr val="8A8A8A"/>
                </a:solidFill>
                <a:latin typeface="Courier New"/>
              </a:defRPr>
            </a:pPr>
            <a:r>
              <a:t>    -  tone archetypes    -&gt;  starter shape-language</a:t>
            </a:r>
          </a:p>
          <a:p>
            <a:pPr>
              <a:spcAft>
                <a:spcPts val="500"/>
              </a:spcAft>
              <a:defRPr sz="1300">
                <a:solidFill>
                  <a:srgbClr val="8A8A8A"/>
                </a:solidFill>
                <a:latin typeface="Courier New"/>
              </a:defRPr>
            </a:pPr>
            <a:r>
              <a:t>    -  subject's recall   -&gt;  their own sculpture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737360"/>
            <a:ext cx="457200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BEFORE  -&gt;  AFTER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743200"/>
            <a:ext cx="1280160" cy="1280160"/>
          </a:xfrm>
          <a:prstGeom prst="rect">
            <a:avLst/>
          </a:prstGeom>
          <a:solidFill>
            <a:srgbClr val="1C1C1C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0" y="2560320"/>
            <a:ext cx="1280160" cy="182880"/>
          </a:xfrm>
          <a:prstGeom prst="rect">
            <a:avLst/>
          </a:prstGeom>
          <a:solidFill>
            <a:srgbClr val="8A660E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42062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ORDERED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004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2800" b="1">
                <a:solidFill>
                  <a:srgbClr val="D4A017"/>
                </a:solidFill>
                <a:latin typeface="Courier New"/>
              </a:defRPr>
            </a:pPr>
            <a: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2560320"/>
            <a:ext cx="731520" cy="822960"/>
          </a:xfrm>
          <a:prstGeom prst="rect">
            <a:avLst/>
          </a:prstGeom>
          <a:solidFill>
            <a:srgbClr val="1C1C1C"/>
          </a:solidFill>
          <a:ln w="12700">
            <a:solidFill>
              <a:srgbClr val="8A6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32720" y="2834640"/>
            <a:ext cx="548640" cy="640080"/>
          </a:xfrm>
          <a:prstGeom prst="rect">
            <a:avLst/>
          </a:prstGeom>
          <a:solidFill>
            <a:srgbClr val="1C1C1C"/>
          </a:solidFill>
          <a:ln w="12700">
            <a:solidFill>
              <a:srgbClr val="8A6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84080" y="3566160"/>
            <a:ext cx="100584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698480" y="3657600"/>
            <a:ext cx="365760" cy="365760"/>
          </a:xfrm>
          <a:prstGeom prst="rect">
            <a:avLst/>
          </a:prstGeom>
          <a:solidFill>
            <a:srgbClr val="8A660E"/>
          </a:solidFill>
          <a:ln w="12700">
            <a:solidFill>
              <a:srgbClr val="8A6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418320" y="2834640"/>
            <a:ext cx="18288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4206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RECALLED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INTERACTIVE MEMORY MACHINE  ·  v2.4  ·  TEAM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02 //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v1  -&gt;  v2  -&gt;  v2.4 — three pivots, four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2240280" cy="4389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" y="1920240"/>
            <a:ext cx="822960" cy="32004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2026-03-28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SCAFFOLD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1874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Memory + dream text input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Claude analysis -&gt; image -&gt; video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End-to-end pipeline working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Problem: dream framing felt whimsical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691640"/>
            <a:ext cx="2240280" cy="4389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0128" y="1920240"/>
            <a:ext cx="822960" cy="32004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19476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v2.0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19659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2026-04-14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37744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NODE 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788920"/>
            <a:ext cx="1874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Dropped dream framing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Single subconsciousness text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Node-based visual programming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- 10 operations, Ideogram V2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Morphological fusion aesthetic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Instructor-validated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31536" y="1691640"/>
            <a:ext cx="2240280" cy="4389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0136" y="1920240"/>
            <a:ext cx="822960" cy="32004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0136" y="19476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v2.2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9659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237744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ART 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0136" y="2788920"/>
            <a:ext cx="1874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Claude rewrites mechanical prompt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- 12 nodes (spatial / exp / appearance)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- 7 tone archetypes as starter shapes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Multi-model: Recraft V4 Pro + others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81544" y="1691640"/>
            <a:ext cx="2240280" cy="4389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10144" y="1920240"/>
            <a:ext cx="822960" cy="32004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10144" y="19476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v2.3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19659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2026-04-20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237744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3D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2788920"/>
            <a:ext cx="1874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fal.ai Trellis + Hunyuan3D V3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React Three Fiber viewport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GLB / OBJ / STL export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Teammates 3D-printed outputs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31552" y="1691640"/>
            <a:ext cx="2240280" cy="4389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360152" y="1920240"/>
            <a:ext cx="822960" cy="32004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60152" y="19476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v2.4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28832" y="19659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2026-04-20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2377440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UI POLISH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0152" y="2788920"/>
            <a:ext cx="1874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Idle/subconscious glitch effects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Mechanical loaders + telemetry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Wire draw-in, breath glow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EB Garamond serif labels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- Film grain + easter eggs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Each pivot addressed a critique. The glitch was never surface.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INTERACTIVE MEMORY MACHINE  ·  v2.4  ·  TEAM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03 //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10 stages — from recalled text to exported mesh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E5E5E5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Subject ID +</a:t>
            </a:r>
            <a:br/>
            <a:r>
              <a:t>recall text</a:t>
            </a:r>
            <a:br/>
            <a:r>
              <a:t>(&lt;=600 chars)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42316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73736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874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D4A017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774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Claude Haiku</a:t>
            </a:r>
            <a:br/>
            <a:r>
              <a:t>keywords +</a:t>
            </a:r>
            <a:br/>
            <a:r>
              <a:t>12 scores +</a:t>
            </a:r>
            <a:br/>
            <a:r>
              <a:t>archetype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42316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73736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1874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E5E5E5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3774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7432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Drag chips</a:t>
            </a:r>
            <a:br/>
            <a:r>
              <a:t>Wire to 12</a:t>
            </a:r>
            <a:br/>
            <a:r>
              <a:t>operation</a:t>
            </a:r>
            <a:br/>
            <a:r>
              <a:t>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2316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73736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1874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D4A017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3774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7432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Claude rewrites</a:t>
            </a:r>
            <a:br/>
            <a:r>
              <a:t>mechanical prompt</a:t>
            </a:r>
            <a:br/>
            <a:r>
              <a:t>-&gt; visual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42316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73736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1874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E5E5E5"/>
                </a:solidFill>
                <a:latin typeface="Courier New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3774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74320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fal.ai</a:t>
            </a:r>
            <a:br/>
            <a:r>
              <a:t>Recraft V4 Pro</a:t>
            </a:r>
            <a:br/>
            <a:r>
              <a:t>(or Nano/Ideogram)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6908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206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D4A017"/>
                </a:solidFill>
                <a:latin typeface="Courier New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09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Claude returns</a:t>
            </a:r>
            <a:br/>
            <a:r>
              <a:t>{name,</a:t>
            </a:r>
            <a:br/>
            <a:r>
              <a:t>explanation}</a:t>
            </a:r>
            <a:br/>
            <a:r>
              <a:t>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754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406908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0" y="4206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E5E5E5"/>
                </a:solidFill>
                <a:latin typeface="Courier New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709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VIEW 2D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07492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Image + title +</a:t>
            </a:r>
            <a:br/>
            <a:r>
              <a:t>editable</a:t>
            </a:r>
            <a:br/>
            <a:r>
              <a:t>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754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406908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0" y="4206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D4A017"/>
                </a:solidFill>
                <a:latin typeface="Courier New"/>
              </a:defRPr>
            </a:pPr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709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RECONSTRUCT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07492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fal.ai Trellis</a:t>
            </a:r>
            <a:br/>
            <a:r>
              <a:t>or Hunyuan3D</a:t>
            </a:r>
            <a:br/>
            <a:r>
              <a:t>-&gt; GLB mesh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754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406908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0" y="4206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E5E5E5"/>
                </a:solidFill>
                <a:latin typeface="Courier New"/>
              </a:defRPr>
            </a:pPr>
            <a: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709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ORBIT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07492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React Three Fiber</a:t>
            </a:r>
            <a:br/>
            <a:r>
              <a:t>STUDIO / MOODY</a:t>
            </a:r>
            <a:br/>
            <a:r>
              <a:t>lighting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7548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4069080"/>
            <a:ext cx="210312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58400" y="4206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800" b="1">
                <a:solidFill>
                  <a:srgbClr val="D4A017"/>
                </a:solidFill>
                <a:latin typeface="Courier New"/>
              </a:defRPr>
            </a:pPr>
            <a: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4709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EXPORT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507492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GLB native +</a:t>
            </a:r>
            <a:br/>
            <a:r>
              <a:t>OBJ + STL</a:t>
            </a:r>
            <a:br/>
            <a:r>
              <a:t>client-side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36576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6576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600" b="1">
                <a:solidFill>
                  <a:srgbClr val="D4A017"/>
                </a:solidFill>
                <a:latin typeface="Courier New"/>
              </a:defRPr>
            </a:pPr>
            <a:r>
              <a:t>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WHITE = user action   ·   GOLD = model inference (Claude / fal.ai)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INTERACTIVE MEMORY MACHINE  ·  v2.4  ·  TEAM 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04 // ARCHETYPES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7 tonal starters — shape-language from mood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508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rga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132588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7490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ORGANIC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Calm, nostalgic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Smooth biomorphic curves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691640"/>
            <a:ext cx="1508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rystall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1783080"/>
            <a:ext cx="132588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41448" y="37490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CRYSTALLINE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411480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Tense, anxious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4754880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Angular faceted planes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8496" y="1691640"/>
            <a:ext cx="1508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wis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783080"/>
            <a:ext cx="132588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59936" y="37490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TWISTED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9936" y="411480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Disorienting, dynamic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6" y="4754880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Coiling spirals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6984" y="1691640"/>
            <a:ext cx="1508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keleta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1783080"/>
            <a:ext cx="132588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78424" y="37490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SKELETAL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411480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Vulnerable, exposed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8424" y="4754880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Thin branching members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5472" y="1691640"/>
            <a:ext cx="1508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monolithi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1783080"/>
            <a:ext cx="1325880" cy="182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96912" y="37490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MONOLITHIC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411480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Oppressive, heavy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4754880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Dense compact mass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1691640"/>
            <a:ext cx="1508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ragment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1783080"/>
            <a:ext cx="1325880" cy="1828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15400" y="37490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FRAGMENTED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11480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Chaotic, traumatic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754880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Scattered shards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42448" y="1691640"/>
            <a:ext cx="1508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neste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888" y="1783080"/>
            <a:ext cx="1325880" cy="1828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33888" y="374904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NESTED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3888" y="4114800"/>
            <a:ext cx="1325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Introspective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33888" y="4754880"/>
            <a:ext cx="1325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8A8A8A"/>
                </a:solidFill>
                <a:latin typeface="Courier New"/>
              </a:defRPr>
            </a:pPr>
            <a:r>
              <a:t>Concentric shells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Claude classifies the recall text into exactly one archetype.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The archetype seeds the starter shape; the 12 nodes deform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05 //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12 nodes — three families of distortion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931920" cy="50292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SPATIAL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D4A017"/>
                </a:solidFill>
                <a:latin typeface="Courier New"/>
              </a:defRPr>
            </a:pPr>
            <a:r>
              <a:t>unipolar 0-1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39319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Boundary 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Edges dissolve into neighbours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90088"/>
            <a:ext cx="39319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COMPLETENESS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Mass Subtraction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4728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Voids and hollows carve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48456"/>
            <a:ext cx="39319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9417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STABILITY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2277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Gravitational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05656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Tilts and suspends off-axis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06824"/>
            <a:ext cx="39319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3525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MISASSOC.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8114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Cross-Morph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64024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Incompatible shapes merge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65192"/>
            <a:ext cx="39319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VULNERABILITY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39512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Interior Reveal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22392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Peels surfaces, exposes inside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23560"/>
            <a:ext cx="39319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INTIMACY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978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Scale Compression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080760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Mass folds inward, crushing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1691640"/>
            <a:ext cx="3474720" cy="50292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0" y="1783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199339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D4A017"/>
                </a:solidFill>
                <a:latin typeface="Courier New"/>
              </a:defRPr>
            </a:pPr>
            <a:r>
              <a:t>bipolar, 0.5 neutral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331720"/>
            <a:ext cx="34747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23774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TEMPERATURE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260604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Freeze  &lt;-&gt;  Melt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78892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Ice/frost  vs  molten 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2990088"/>
            <a:ext cx="34747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303580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PRESSURE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26440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Smooth  &lt;-&gt;  Shatter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447288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Glassy polish vs jagged spikes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648456"/>
            <a:ext cx="347472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0" y="369417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LUMINOSITY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3922776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Shadow  &lt;-&gt;  Radiance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105656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Consumed dark vs blinding glow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1691640"/>
            <a:ext cx="3383280" cy="502920"/>
          </a:xfrm>
          <a:prstGeom prst="rect">
            <a:avLst/>
          </a:prstGeom>
          <a:solidFill>
            <a:srgbClr val="8A660E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0" y="17830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E5E5E5"/>
                </a:solidFill>
                <a:latin typeface="Courier New"/>
              </a:defRPr>
            </a:pPr>
            <a:r>
              <a:t>APPEARANCE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199339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D4A017"/>
                </a:solidFill>
                <a:latin typeface="Courier New"/>
              </a:defRPr>
            </a:pPr>
            <a:r>
              <a:t>unipolar 0-1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2331720"/>
            <a:ext cx="338328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86800" y="2377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MATERIAL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60604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Substance Identity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278892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Connected keywords set material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990088"/>
            <a:ext cx="338328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0" y="303580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TEXTURE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264408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Surface Grain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344728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Roughness / smoothness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03920" y="3648456"/>
            <a:ext cx="338328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86800" y="36941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COLOR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3922776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0">
                <a:solidFill>
                  <a:srgbClr val="E5E5E5"/>
                </a:solidFill>
                <a:latin typeface="Courier New"/>
              </a:defRPr>
            </a:pPr>
            <a:r>
              <a:t>Chromatic Palette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105656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Palette + saturation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Each node receives 0+ keyword wires; connection count + keyword content modulate intensity.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06 //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How the subject maps recall to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698480" cy="4206240"/>
          </a:xfrm>
          <a:prstGeom prst="rect">
            <a:avLst/>
          </a:prstGeom>
          <a:solidFill>
            <a:srgbClr val="0D0D0D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1">
                <a:solidFill>
                  <a:srgbClr val="8A8A8A"/>
                </a:solidFill>
                <a:latin typeface="Courier New"/>
              </a:defRPr>
            </a:pPr>
            <a:r>
              <a:t>KEYWORD FRAGMENTS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900" b="1">
                <a:solidFill>
                  <a:srgbClr val="8A8A8A"/>
                </a:solidFill>
                <a:latin typeface="Courier New"/>
              </a:defRPr>
            </a:pPr>
            <a:r>
              <a:t>OPERATION NODES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40280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1343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E5E5E5"/>
                </a:solidFill>
                <a:latin typeface="Courier New"/>
              </a:defRPr>
            </a:pPr>
            <a:r>
              <a:t>OBJ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1343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corridor</a:t>
            </a:r>
          </a:p>
        </p:txBody>
      </p:sp>
      <p:sp>
        <p:nvSpPr>
          <p:cNvPr id="11" name="Oval 10"/>
          <p:cNvSpPr/>
          <p:nvPr/>
        </p:nvSpPr>
        <p:spPr>
          <a:xfrm>
            <a:off x="3154680" y="2359152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5840" y="2679192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75234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E5E5E5"/>
                </a:solidFill>
                <a:latin typeface="Courier New"/>
              </a:defRPr>
            </a:pPr>
            <a:r>
              <a:t>OBJ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5234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stove</a:t>
            </a:r>
          </a:p>
        </p:txBody>
      </p:sp>
      <p:sp>
        <p:nvSpPr>
          <p:cNvPr id="15" name="Oval 14"/>
          <p:cNvSpPr/>
          <p:nvPr/>
        </p:nvSpPr>
        <p:spPr>
          <a:xfrm>
            <a:off x="3154680" y="2798064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" y="3118104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19125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D4A017"/>
                </a:solidFill>
                <a:latin typeface="Courier New"/>
              </a:defRPr>
            </a:pPr>
            <a:r>
              <a:t>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91256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mother</a:t>
            </a:r>
          </a:p>
        </p:txBody>
      </p:sp>
      <p:sp>
        <p:nvSpPr>
          <p:cNvPr id="19" name="Oval 18"/>
          <p:cNvSpPr/>
          <p:nvPr/>
        </p:nvSpPr>
        <p:spPr>
          <a:xfrm>
            <a:off x="3154680" y="3236976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" y="3557016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63016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6CB56C"/>
                </a:solidFill>
                <a:latin typeface="Courier New"/>
              </a:defRPr>
            </a:pPr>
            <a:r>
              <a:t>SPA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6301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narrow</a:t>
            </a:r>
          </a:p>
        </p:txBody>
      </p:sp>
      <p:sp>
        <p:nvSpPr>
          <p:cNvPr id="23" name="Oval 22"/>
          <p:cNvSpPr/>
          <p:nvPr/>
        </p:nvSpPr>
        <p:spPr>
          <a:xfrm>
            <a:off x="3154680" y="3675888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3995928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06908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E05050"/>
                </a:solidFill>
                <a:latin typeface="Courier New"/>
              </a:defRPr>
            </a:pPr>
            <a:r>
              <a:t>EXP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0690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cold</a:t>
            </a:r>
          </a:p>
        </p:txBody>
      </p:sp>
      <p:sp>
        <p:nvSpPr>
          <p:cNvPr id="27" name="Oval 26"/>
          <p:cNvSpPr/>
          <p:nvPr/>
        </p:nvSpPr>
        <p:spPr>
          <a:xfrm>
            <a:off x="3154680" y="4114800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5840" y="4434840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50799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4A90D9"/>
                </a:solidFill>
                <a:latin typeface="Courier New"/>
              </a:defRPr>
            </a:pPr>
            <a:r>
              <a:t>EVT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50799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shifting</a:t>
            </a:r>
          </a:p>
        </p:txBody>
      </p:sp>
      <p:sp>
        <p:nvSpPr>
          <p:cNvPr id="31" name="Oval 30"/>
          <p:cNvSpPr/>
          <p:nvPr/>
        </p:nvSpPr>
        <p:spPr>
          <a:xfrm>
            <a:off x="3154680" y="4553712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05840" y="4873752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494690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E5E5E5"/>
                </a:solidFill>
                <a:latin typeface="Courier New"/>
              </a:defRPr>
            </a:pPr>
            <a:r>
              <a:t>OBJ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946904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kettle</a:t>
            </a:r>
          </a:p>
        </p:txBody>
      </p:sp>
      <p:sp>
        <p:nvSpPr>
          <p:cNvPr id="35" name="Oval 34"/>
          <p:cNvSpPr/>
          <p:nvPr/>
        </p:nvSpPr>
        <p:spPr>
          <a:xfrm>
            <a:off x="3154680" y="4992624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05840" y="5312664"/>
            <a:ext cx="2194560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38581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1">
                <a:solidFill>
                  <a:srgbClr val="6CB56C"/>
                </a:solidFill>
                <a:latin typeface="Courier New"/>
              </a:defRPr>
            </a:pPr>
            <a:r>
              <a:t>SPA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385816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high</a:t>
            </a:r>
          </a:p>
        </p:txBody>
      </p:sp>
      <p:sp>
        <p:nvSpPr>
          <p:cNvPr id="39" name="Oval 38"/>
          <p:cNvSpPr/>
          <p:nvPr/>
        </p:nvSpPr>
        <p:spPr>
          <a:xfrm>
            <a:off x="3154680" y="5431536"/>
            <a:ext cx="137160" cy="137160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03920" y="2240280"/>
            <a:ext cx="2651760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30768" y="2423160"/>
            <a:ext cx="155448" cy="155448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41080" y="22860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CLARITY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22860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0.72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1080" y="2560320"/>
            <a:ext cx="22860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41080" y="2560320"/>
            <a:ext cx="1645919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03920" y="2807208"/>
            <a:ext cx="2651760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430768" y="2990088"/>
            <a:ext cx="155448" cy="155448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2852928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COMPLETENESS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285292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3127248"/>
            <a:ext cx="22860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641080" y="3127248"/>
            <a:ext cx="8001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503920" y="3374136"/>
            <a:ext cx="2651760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430768" y="3557016"/>
            <a:ext cx="155448" cy="155448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41080" y="3419856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STABILITY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341985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0.81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3694176"/>
            <a:ext cx="22860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641080" y="3694176"/>
            <a:ext cx="18516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503920" y="3941064"/>
            <a:ext cx="2651760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430768" y="4123944"/>
            <a:ext cx="155448" cy="155448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41080" y="398678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MISASSOCIATION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1320" y="398678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41080" y="4261104"/>
            <a:ext cx="22860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641080" y="4261104"/>
            <a:ext cx="64008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503920" y="4507992"/>
            <a:ext cx="2651760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430768" y="4690872"/>
            <a:ext cx="155448" cy="155448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41080" y="455371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VULNERABILITY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61320" y="45537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0.55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41080" y="4828032"/>
            <a:ext cx="22860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641080" y="4828032"/>
            <a:ext cx="12573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503920" y="5074920"/>
            <a:ext cx="2651760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430768" y="5257800"/>
            <a:ext cx="155448" cy="155448"/>
          </a:xfrm>
          <a:prstGeom prst="ellipse">
            <a:avLst/>
          </a:prstGeom>
          <a:solidFill>
            <a:srgbClr val="D4A017"/>
          </a:solidFill>
          <a:ln w="9525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641080" y="512064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INTIMACY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1320" y="512064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0.67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41080" y="5394960"/>
            <a:ext cx="2286000" cy="731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641080" y="5394960"/>
            <a:ext cx="15316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>
            <a:off x="3218688" y="2423160"/>
            <a:ext cx="5266944" cy="73152"/>
          </a:xfrm>
          <a:prstGeom prst="curvedConnector3">
            <a:avLst/>
          </a:prstGeom>
          <a:ln w="15875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218688" y="2862072"/>
            <a:ext cx="5266944" cy="2468880"/>
          </a:xfrm>
          <a:prstGeom prst="curvedConnector3">
            <a:avLst/>
          </a:prstGeom>
          <a:ln w="15875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218688" y="3630168"/>
            <a:ext cx="5266944" cy="109728"/>
          </a:xfrm>
          <a:prstGeom prst="curvedConnector3">
            <a:avLst/>
          </a:prstGeom>
          <a:ln w="15875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218688" y="4178808"/>
            <a:ext cx="5266944" cy="1152144"/>
          </a:xfrm>
          <a:prstGeom prst="curvedConnector3">
            <a:avLst/>
          </a:prstGeom>
          <a:ln w="15875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218688" y="4197096"/>
            <a:ext cx="5266944" cy="420624"/>
          </a:xfrm>
          <a:prstGeom prst="curvedConnector3">
            <a:avLst/>
          </a:prstGeom>
          <a:ln w="15875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218688" y="2496312"/>
            <a:ext cx="5266944" cy="2560320"/>
          </a:xfrm>
          <a:prstGeom prst="curvedConnector3">
            <a:avLst/>
          </a:prstGeom>
          <a:ln w="15875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218688" y="3630168"/>
            <a:ext cx="5266944" cy="1865376"/>
          </a:xfrm>
          <a:prstGeom prst="curvedConnector3">
            <a:avLst/>
          </a:prstGeom>
          <a:ln w="15875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749040" y="3657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DRAG  -&gt;  WIRE  -&gt;  DEFORM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49040" y="40233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The wiring pattern itself is the</a:t>
            </a:r>
            <a:br/>
            <a:r>
              <a:t>subject's testimony of their memory.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PAN  middle-drag   ·   ZOOM  wheel   ·   DELETE  click wire   ·   MULTI-WIRE  per node allowed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07 // ART DIRECTOR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Why Claude rewrites the prompt before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657600" cy="4389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MECHANICAL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(from connections + scores)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archetype: CRYSTALLINE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endParaRPr/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clarity 0.72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  -&gt; boundaries dissolve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completeness 0.35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  -&gt; heavy mass subtraction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stability 0.81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  -&gt; mild tilt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endParaRPr/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kw(corridor, narrow, high)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  -&gt; spatial nodes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kw(cold, shifting)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  -&gt; temperature low</a:t>
            </a:r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endParaRPr/>
          </a:p>
          <a:p>
            <a:pPr>
              <a:spcAft>
                <a:spcPts val="500"/>
              </a:spcAft>
              <a:defRPr sz="1000">
                <a:solidFill>
                  <a:srgbClr val="E5E5E5"/>
                </a:solidFill>
                <a:latin typeface="Courier New"/>
              </a:defRPr>
            </a:pPr>
            <a:r>
              <a:t>...+ 9 more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47472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691640"/>
            <a:ext cx="2560320" cy="4389120"/>
          </a:xfrm>
          <a:prstGeom prst="rect">
            <a:avLst/>
          </a:prstGeom>
          <a:solidFill>
            <a:srgbClr val="1C1C1C"/>
          </a:solidFill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1828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ART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1031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E5E5E5"/>
                </a:solidFill>
                <a:latin typeface="Courier New"/>
              </a:defRPr>
            </a:pPr>
            <a:r>
              <a:t>Claude Haiku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77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context-aware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7889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Reads: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  + original recall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  + archetype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  + all 12 scores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  + wiring pattern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endParaRPr/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Writes: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  single cohesive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  visual brief for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  text-to-image model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endParaRPr/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Physically plausible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sculpture, clean</a:t>
            </a:r>
          </a:p>
          <a:p>
            <a:pPr>
              <a:spcAft>
                <a:spcPts val="500"/>
              </a:spcAft>
              <a:defRPr sz="900">
                <a:solidFill>
                  <a:srgbClr val="E5E5E5"/>
                </a:solidFill>
                <a:latin typeface="Courier New"/>
              </a:defRPr>
            </a:pPr>
            <a:r>
              <a:t>background.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47472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291840" cy="43891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VISUAL 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800" b="0">
                <a:solidFill>
                  <a:srgbClr val="8A8A8A"/>
                </a:solidFill>
                <a:latin typeface="Courier New"/>
              </a:defRPr>
            </a:pPr>
            <a:r>
              <a:t>(sent to fal.ai)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2926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50"/>
              </a:spcAft>
              <a:defRPr sz="1000" b="0">
                <a:solidFill>
                  <a:srgbClr val="E5E5E5"/>
                </a:solidFill>
                <a:latin typeface="Georgia"/>
              </a:defRPr>
            </a:pPr>
            <a:r>
              <a:t>A crystalline sculpture of</a:t>
            </a:r>
            <a:br/>
            <a:r>
              <a:t>a narrow corridor, faceted</a:t>
            </a:r>
            <a:br/>
            <a:r>
              <a:t>ice-like planes dissolving</a:t>
            </a:r>
            <a:br/>
            <a:r>
              <a:t>at the edges, carved with</a:t>
            </a:r>
            <a:br/>
            <a:r>
              <a:t>deep hollows where mass</a:t>
            </a:r>
            <a:br/>
            <a:r>
              <a:t>has been lost. Tilts gently</a:t>
            </a:r>
            <a:br/>
            <a:r>
              <a:t>off-axis. Cold palette, matte</a:t>
            </a:r>
            <a:br/>
            <a:r>
              <a:t>frost texture. Studio lighting,</a:t>
            </a:r>
            <a:br/>
            <a:r>
              <a:t>clean white background,</a:t>
            </a:r>
            <a:br/>
            <a:r>
              <a:t>physically plausible, single</a:t>
            </a:r>
            <a:br/>
            <a:r>
              <a:t>sculptural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Without the art director, text-to-image models treat mechanical specs as abstract noise.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08 // 2D  -&gt;  3D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From generated image to holdable mesh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237744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E5E5E5"/>
                </a:solidFill>
                <a:latin typeface="Courier New"/>
              </a:defRPr>
            </a:pPr>
            <a: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Generated 2D</a:t>
            </a:r>
            <a:br/>
            <a:r>
              <a:t>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4231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691640"/>
            <a:ext cx="237744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D4A017"/>
                </a:solidFill>
                <a:latin typeface="Courier New"/>
              </a:defRPr>
            </a:pPr>
            <a:r>
              <a:t>RECONSTRUCT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6888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Trellis or</a:t>
            </a:r>
            <a:br/>
            <a:r>
              <a:t>Hunyuan3D V3</a:t>
            </a:r>
            <a:br/>
            <a:r>
              <a:t>via fal.ai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4231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691640"/>
            <a:ext cx="237744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E5E5E5"/>
                </a:solidFill>
                <a:latin typeface="Courier New"/>
              </a:defRPr>
            </a:pPr>
            <a:r>
              <a:t>MESH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46888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GLB with</a:t>
            </a:r>
            <a:br/>
            <a:r>
              <a:t>geometry +</a:t>
            </a:r>
            <a:br/>
            <a:r>
              <a:t>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4231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2200" b="1">
                <a:solidFill>
                  <a:srgbClr val="D4A017"/>
                </a:solidFill>
                <a:latin typeface="Courier New"/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691640"/>
            <a:ext cx="237744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D4A017"/>
                </a:solidFill>
                <a:latin typeface="Courier New"/>
              </a:defRPr>
            </a:pPr>
            <a:r>
              <a:t>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React Three</a:t>
            </a:r>
            <a:br/>
            <a:r>
              <a:t>Fiber viewport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77639"/>
            <a:ext cx="10698480" cy="2011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114799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D4A017"/>
                </a:solidFill>
                <a:latin typeface="Courier New"/>
              </a:defRPr>
            </a:pPr>
            <a:r>
              <a:t>MODEL TOGGLE — chosen per-generation via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2627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8A8A8A"/>
                </a:solidFill>
                <a:latin typeface="Courier New"/>
              </a:defRPr>
            </a:pPr>
            <a: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52627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8A8A8A"/>
                </a:solidFill>
                <a:latin typeface="Courier New"/>
              </a:defRPr>
            </a:pPr>
            <a:r>
              <a:t>fal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52627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8A8A8A"/>
                </a:solidFill>
                <a:latin typeface="Courier New"/>
              </a:defRPr>
            </a:pPr>
            <a:r>
              <a:t>COST / 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526279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8A8A8A"/>
                </a:solidFill>
                <a:latin typeface="Courier New"/>
              </a:defRPr>
            </a:pPr>
            <a:r>
              <a:t>FIDELITY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26279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1">
                <a:solidFill>
                  <a:srgbClr val="8A8A8A"/>
                </a:solidFill>
                <a:latin typeface="Courier New"/>
              </a:defRPr>
            </a:pPr>
            <a:r>
              <a:t>WHEN TO 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846319"/>
            <a:ext cx="1033272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02919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TRELLIS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2919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fal-ai/trellis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02919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6CB56C"/>
                </a:solidFill>
                <a:latin typeface="Courier New"/>
              </a:defRPr>
            </a:pPr>
            <a:r>
              <a:t>~$0.02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029199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029199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default, fast iteration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32119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HUNYUAN3D 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53211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fal-ai/hunyuan3d-v3/image-to-3d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53211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05050"/>
                </a:solidFill>
                <a:latin typeface="Courier New"/>
              </a:defRPr>
            </a:pPr>
            <a:r>
              <a:t>~$0.16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532119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E5E5E5"/>
                </a:solidFill>
                <a:latin typeface="Courier New"/>
              </a:defRPr>
            </a:pPr>
            <a:r>
              <a:t>PBR materials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532119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crit / exhibition hero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Exports: GLB (native from fal) + OBJ + STL (client-side via three-stdlib for 3D-print slicers).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09 // UI THEME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Mechanical precision  &lt;-&gt;  subconscious decay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257800" cy="443484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D4A017"/>
                </a:solidFill>
                <a:latin typeface="Courier New"/>
              </a:defRPr>
            </a:pPr>
            <a:r>
              <a:t>ACTIVE / MECHANICAL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input + mapping + generating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Scan bars / elapsed counters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Telemetry glyphs + frame counter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Wire draw-in animation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Node breath glow (connected)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Badge pop on connect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EB Garamond serif for artifact name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Courier Mono for data / code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+ Precise, deliberate, robotic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91640"/>
            <a:ext cx="5257800" cy="4434840"/>
          </a:xfrm>
          <a:prstGeom prst="rect">
            <a:avLst/>
          </a:prstGeom>
          <a:solidFill>
            <a:srgbClr val="141414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400" b="1">
                <a:solidFill>
                  <a:srgbClr val="E5E5E5"/>
                </a:solidFill>
                <a:latin typeface="Courier New"/>
              </a:defRPr>
            </a:pPr>
            <a:r>
              <a:t>IDLE / SUBCONSCIOUS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input screen only, &gt;=12s no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~ Random letter-fall on headings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~ Gold scan line sweep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~ Periodic TV glitch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  (chromatic aberration + jitter)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~ Deep glitch burst at 35s (once)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~ Film grain overlay always on (~6%)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~ Halts immediately on any input</a:t>
            </a:r>
          </a:p>
          <a:p>
            <a:pPr>
              <a:spcAft>
                <a:spcPts val="500"/>
              </a:spcAft>
              <a:defRPr sz="1200">
                <a:solidFill>
                  <a:srgbClr val="E5E5E5"/>
                </a:solidFill>
                <a:latin typeface="Courier New"/>
              </a:defRPr>
            </a:pPr>
            <a:r>
              <a:t>~ Gated to session.status =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EASTER EGGS  ·  Konami = DEV preset  ·  Midnight (00-04h) = NIGHT SHIFT subtitle  ·  35s idle = deep burst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10 //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Everything the machine runs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698480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9222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Next.js 15 (App Router) + TypeScript + Tailwind 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1069848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7685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React 19  ·  useReducer  ·  pointer events + SVG bezier wires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60904"/>
            <a:ext cx="10698480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3D 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6148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React Three Fiber + drei (OrbitControls, Bounds, Grid, GizmoHelper, Environment)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45536"/>
            <a:ext cx="1069848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461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GLB (native)  ·  OBJ + STL (three-stdlib client-side)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30168"/>
            <a:ext cx="10698480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CLAUDE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307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Haiku (dev / art director / naming)  ·  Sonnet (analysis for production)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1069848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153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TEXT-&gt;IMG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215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fal.ai  ·  Recraft V4 Pro (default)  ·  Nano Banana Pro  ·  Ideogram V2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99432"/>
            <a:ext cx="10698480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7000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IMG-&gt;3D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0001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fal.ai  ·  Trellis (default, ~$0.02)  ·  Hunyuan3D V3 PBR (~$0.16)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84064"/>
            <a:ext cx="10698480" cy="438912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1846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HOSTING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18464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Vercel (pre-deploy)  ·  .env.local for keys (gitignored)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68696"/>
            <a:ext cx="10698480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69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REPO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669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E5E5E5"/>
                </a:solidFill>
                <a:latin typeface="Courier New"/>
              </a:defRPr>
            </a:pPr>
            <a:r>
              <a:t>github.com/ZawYeHtet2001/Glitch_CML_project  ·  branch: 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000" b="0">
                <a:solidFill>
                  <a:srgbClr val="8A8A8A"/>
                </a:solidFill>
                <a:latin typeface="Courier New"/>
              </a:defRPr>
            </a:pPr>
            <a:r>
              <a:t>Rule of thumb: Claude for meaning, fal.ai for pixels / meshes, local JS for export.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11 //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Ready state + last-mile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257800" cy="4434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6CB56C"/>
                </a:solidFill>
                <a:latin typeface="Courier New"/>
              </a:defRPr>
            </a:pPr>
            <a:r>
              <a:t>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v1 pipeline (2026-03-28)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Node-based UI pivot (2026-04-14)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Art director + 12 nodes (04-18)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7 tone archetypes (04-19)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Multi-model 2D (Recraft/Nano/Ideogram)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Trellis + Hunyuan3D 2D-&gt;3D (04-20)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R3F viewer + GLB/OBJ/STL export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Editable artifact names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Mechanical loaders + telemetry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Idle / TV glitch effects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Wire draw-in + breath glow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Film grain + easter eggs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[x] Teammates already 3D-printed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91640"/>
            <a:ext cx="5257800" cy="443484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300" b="1">
                <a:solidFill>
                  <a:srgbClr val="D4A017"/>
                </a:solidFill>
                <a:latin typeface="Courier New"/>
              </a:defRPr>
            </a:pPr>
            <a:r>
              <a:t>LAST-MILE  (MON NIGHT)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UI optimization pass (tonight)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Full dry-run demo with all 4 recalls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Check Claude Haiku -&gt; Sonnet toggle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Verify all 3 image models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Re-export hero pieces (Hunyuan3D)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Slicer test: STL opens in Bambu / Cura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Deploy to Vercel (staging)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[ ] Crit rehearsal — 5 min pitch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endParaRPr/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FREEZE:  Tuesday morning.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No new features after that.</a:t>
            </a:r>
          </a:p>
          <a:p>
            <a:pPr>
              <a:spcAft>
                <a:spcPts val="500"/>
              </a:spcAft>
              <a:defRPr sz="1100">
                <a:solidFill>
                  <a:srgbClr val="E5E5E5"/>
                </a:solidFill>
                <a:latin typeface="Courier New"/>
              </a:defRPr>
            </a:pPr>
            <a:r>
              <a:t>Only bug fixes + copy tweaks.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CRIT  ·  Tuesday 2026-04-21, evening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D4A017"/>
                </a:solidFill>
                <a:latin typeface="Courier New"/>
              </a:defRPr>
            </a:pPr>
            <a:r>
              <a:t>12 //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2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2200" b="1">
                <a:solidFill>
                  <a:srgbClr val="E5E5E5"/>
                </a:solidFill>
                <a:latin typeface="Courier New"/>
              </a:defRPr>
            </a:pPr>
            <a:r>
              <a:t>Who owns what through crit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2633472" cy="3474720"/>
          </a:xfrm>
          <a:prstGeom prst="rect">
            <a:avLst/>
          </a:prstGeom>
          <a:solidFill>
            <a:srgbClr val="141414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084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3400" b="1">
                <a:solidFill>
                  <a:srgbClr val="D4A017"/>
                </a:solidFill>
                <a:latin typeface="Courier New"/>
              </a:defRPr>
            </a:pPr>
            <a:r>
              <a:t>ZH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Owner / Primary 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0848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Architecture, pipeline, 3D</a:t>
            </a:r>
          </a:p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UI polish + demo rehearsal</a:t>
            </a:r>
          </a:p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This deck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91640"/>
            <a:ext cx="2633472" cy="3474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1965960"/>
            <a:ext cx="2084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3400" b="1">
                <a:solidFill>
                  <a:srgbClr val="D4A017"/>
                </a:solidFill>
                <a:latin typeface="Courier New"/>
              </a:defRPr>
            </a:pPr>
            <a:r>
              <a:t>JW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6974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Recall contributor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154680"/>
            <a:ext cx="20848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Subconsciousness text</a:t>
            </a:r>
          </a:p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Crit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633472" cy="3474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2084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3400" b="1">
                <a:solidFill>
                  <a:srgbClr val="D4A017"/>
                </a:solidFill>
                <a:latin typeface="Courier New"/>
              </a:defRPr>
            </a:pPr>
            <a:r>
              <a:t>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Recall contributor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20848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Subconsciousness text</a:t>
            </a:r>
          </a:p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Crit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91640"/>
            <a:ext cx="2633472" cy="3474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1965960"/>
            <a:ext cx="2084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3400" b="1">
                <a:solidFill>
                  <a:srgbClr val="D4A017"/>
                </a:solidFill>
                <a:latin typeface="Courier New"/>
              </a:defRPr>
            </a:pPr>
            <a:r>
              <a:t>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97480"/>
            <a:ext cx="20848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1">
                <a:solidFill>
                  <a:srgbClr val="E5E5E5"/>
                </a:solidFill>
                <a:latin typeface="Courier New"/>
              </a:defRPr>
            </a:pPr>
            <a:r>
              <a:t>Recall contributor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54680"/>
            <a:ext cx="20848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Subconsciousness text</a:t>
            </a:r>
          </a:p>
          <a:p>
            <a:pPr>
              <a:spcAft>
                <a:spcPts val="500"/>
              </a:spcAft>
              <a:defRPr sz="1000">
                <a:solidFill>
                  <a:srgbClr val="8A8A8A"/>
                </a:solidFill>
                <a:latin typeface="Courier New"/>
              </a:defRPr>
            </a:pPr>
            <a:r>
              <a:t>- Crit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40680"/>
            <a:ext cx="1069848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200" b="1">
                <a:solidFill>
                  <a:srgbClr val="D4A017"/>
                </a:solidFill>
                <a:latin typeface="Courier New"/>
              </a:defRPr>
            </a:pPr>
            <a:r>
              <a:t>TRY IT  ·  localhost:3004   //   REPO  ·  github.com/ZawYeHtet2001/Glitch_CML_project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"/>
              </a:spcAft>
              <a:defRPr sz="1100" b="0">
                <a:solidFill>
                  <a:srgbClr val="8A8A8A"/>
                </a:solidFill>
                <a:latin typeface="Courier New"/>
              </a:defRPr>
            </a:pPr>
            <a:r>
              <a:t>Ping ZH for Claude / fal.ai key access. All feedback welcome before Monday night freeze.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END  //  TRANSMISSION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20"/>
              </a:spcAft>
              <a:defRPr sz="900" b="0">
                <a:solidFill>
                  <a:srgbClr val="555555"/>
                </a:solidFill>
                <a:latin typeface="Courier New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1743</Words>
  <Application>Microsoft Office PowerPoint</Application>
  <PresentationFormat>Widescreen</PresentationFormat>
  <Paragraphs>394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Student - Zaw Ye Htet</cp:lastModifiedBy>
  <cp:revision>1</cp:revision>
  <dcterms:created xsi:type="dcterms:W3CDTF">2013-01-27T09:14:16Z</dcterms:created>
  <dcterms:modified xsi:type="dcterms:W3CDTF">2026-04-20T14:25:05Z</dcterms:modified>
  <cp:category/>
</cp:coreProperties>
</file>