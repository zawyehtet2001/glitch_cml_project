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3600" b="1">
                <a:solidFill>
                  <a:srgbClr val="D4A017"/>
                </a:solidFill>
                <a:latin typeface="Courier New"/>
              </a:defRPr>
            </a:pPr>
            <a:r>
              <a:t>INTERACTIVE MEMORY MACHINE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834640"/>
            <a:ext cx="2743200" cy="254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800" b="0">
                <a:solidFill>
                  <a:srgbClr val="E5E5E5"/>
                </a:solidFill>
                <a:latin typeface="Courier New"/>
              </a:defRPr>
            </a:pPr>
            <a:r>
              <a:t>v2 — Node-Based Visual Programming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400" b="0">
                <a:solidFill>
                  <a:srgbClr val="6A6A6A"/>
                </a:solidFill>
                <a:latin typeface="Courier New"/>
              </a:defRPr>
            </a:pPr>
            <a:r>
              <a:t>Creative Machine Learning — Term 6, SUTD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400" b="0">
                <a:solidFill>
                  <a:srgbClr val="6A6A6A"/>
                </a:solidFill>
                <a:latin typeface="Courier New"/>
              </a:defRPr>
            </a:pPr>
            <a:r>
              <a:t>Team 10: JW  |  NT  |  VP  |  ZH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200" b="0">
                <a:solidFill>
                  <a:srgbClr val="6A6A6A"/>
                </a:solidFill>
                <a:latin typeface="Courier New"/>
              </a:defRPr>
            </a:pPr>
            <a:r>
              <a:t>2026-04-14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200" b="1">
                <a:solidFill>
                  <a:srgbClr val="D4A017"/>
                </a:solidFill>
                <a:latin typeface="Courier New"/>
              </a:defRPr>
            </a:pPr>
            <a:r>
              <a:t>THE CONCEPT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254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2800" b="1">
                <a:solidFill>
                  <a:srgbClr val="E5E5E5"/>
                </a:solidFill>
                <a:latin typeface="Courier New"/>
              </a:defRPr>
            </a:pPr>
            <a:r>
              <a:t>Glitch is not aesthetic decoration.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500" b="0">
                <a:solidFill>
                  <a:srgbClr val="6A6A6A"/>
                </a:solidFill>
                <a:latin typeface="Courier New"/>
              </a:defRPr>
            </a:pPr>
            <a:r>
              <a:t>It represents meaningful distortion of spatial recall — how the subconscious warps, omits, compresses, and destabilizes our memory of architectural space.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029200" cy="4114800"/>
          </a:xfrm>
          <a:prstGeom prst="rect">
            <a:avLst/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46304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100" b="1">
                <a:solidFill>
                  <a:srgbClr val="D4A017"/>
                </a:solidFill>
                <a:latin typeface="Courier New"/>
              </a:defRPr>
            </a:pPr>
            <a:r>
              <a:t>KEY PIVOT (v1 → v2)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01168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E5E5E5"/>
                </a:solidFill>
                <a:latin typeface="Courier New"/>
              </a:defRPr>
            </a:pPr>
            <a:r>
              <a:t>× Dropped 'dream' framing</a:t>
            </a:r>
          </a:p>
          <a:p>
            <a:pPr>
              <a:spcAft>
                <a:spcPts val="600"/>
              </a:spcAft>
              <a:defRPr sz="1200">
                <a:solidFill>
                  <a:srgbClr val="E5E5E5"/>
                </a:solidFill>
                <a:latin typeface="Courier New"/>
              </a:defRPr>
            </a:pPr>
            <a:r>
              <a:t>  Dream imagery → whimsical, not glitchy</a:t>
            </a:r>
          </a:p>
          <a:p>
            <a:pPr>
              <a:spcAft>
                <a:spcPts val="600"/>
              </a:spcAft>
              <a:defRPr sz="1200">
                <a:solidFill>
                  <a:srgbClr val="E5E5E5"/>
                </a:solidFill>
                <a:latin typeface="Courier New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E5E5E5"/>
                </a:solidFill>
                <a:latin typeface="Courier New"/>
              </a:defRPr>
            </a:pPr>
            <a:r>
              <a:t>+ Single subconsciousness input</a:t>
            </a:r>
          </a:p>
          <a:p>
            <a:pPr>
              <a:spcAft>
                <a:spcPts val="600"/>
              </a:spcAft>
              <a:defRPr sz="1200">
                <a:solidFill>
                  <a:srgbClr val="E5E5E5"/>
                </a:solidFill>
                <a:latin typeface="Courier New"/>
              </a:defRPr>
            </a:pPr>
            <a:r>
              <a:t>  Raw spatial recall, not curated narrative</a:t>
            </a:r>
          </a:p>
          <a:p>
            <a:pPr>
              <a:spcAft>
                <a:spcPts val="600"/>
              </a:spcAft>
              <a:defRPr sz="1200">
                <a:solidFill>
                  <a:srgbClr val="E5E5E5"/>
                </a:solidFill>
                <a:latin typeface="Courier New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E5E5E5"/>
                </a:solidFill>
                <a:latin typeface="Courier New"/>
              </a:defRPr>
            </a:pPr>
            <a:r>
              <a:t>+ Node-based interactive control</a:t>
            </a:r>
          </a:p>
          <a:p>
            <a:pPr>
              <a:spcAft>
                <a:spcPts val="600"/>
              </a:spcAft>
              <a:defRPr sz="1200">
                <a:solidFill>
                  <a:srgbClr val="E5E5E5"/>
                </a:solidFill>
                <a:latin typeface="Courier New"/>
              </a:defRPr>
            </a:pPr>
            <a:r>
              <a:t>  Subject decides how memories distort</a:t>
            </a:r>
          </a:p>
          <a:p>
            <a:pPr>
              <a:spcAft>
                <a:spcPts val="600"/>
              </a:spcAft>
              <a:defRPr sz="1200">
                <a:solidFill>
                  <a:srgbClr val="E5E5E5"/>
                </a:solidFill>
                <a:latin typeface="Courier New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E5E5E5"/>
                </a:solidFill>
                <a:latin typeface="Courier New"/>
              </a:defRPr>
            </a:pPr>
            <a:r>
              <a:t>+ 6 scored parameters on a cube</a:t>
            </a:r>
          </a:p>
          <a:p>
            <a:pPr>
              <a:spcAft>
                <a:spcPts val="600"/>
              </a:spcAft>
              <a:defRPr sz="1200">
                <a:solidFill>
                  <a:srgbClr val="E5E5E5"/>
                </a:solidFill>
                <a:latin typeface="Courier New"/>
              </a:defRPr>
            </a:pPr>
            <a:r>
              <a:t>  Geometric operations, not aesthetics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200" b="1">
                <a:solidFill>
                  <a:srgbClr val="D4A017"/>
                </a:solidFill>
                <a:latin typeface="Courier New"/>
              </a:defRPr>
            </a:pPr>
            <a:r>
              <a:t>6 DISTORTION PARAMETERS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254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303520" cy="1463040"/>
          </a:xfrm>
          <a:prstGeom prst="rect">
            <a:avLst/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400" b="1">
                <a:solidFill>
                  <a:srgbClr val="D4A017"/>
                </a:solidFill>
                <a:latin typeface="Courier New"/>
              </a:defRPr>
            </a:pPr>
            <a:r>
              <a:t>CLARITY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100" b="0">
                <a:solidFill>
                  <a:srgbClr val="E5E5E5"/>
                </a:solidFill>
                <a:latin typeface="Courier New"/>
              </a:defRPr>
            </a:pPr>
            <a:r>
              <a:t>Edge Resolution / Fidelity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000" b="0">
                <a:solidFill>
                  <a:srgbClr val="6A6A6A"/>
                </a:solidFill>
                <a:latin typeface="Courier New"/>
              </a:defRPr>
            </a:pPr>
            <a:r>
              <a:t>Low → boundaries dissolve into fog, forms become uncertain silhouettes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280160"/>
            <a:ext cx="5303520" cy="1463040"/>
          </a:xfrm>
          <a:prstGeom prst="rect">
            <a:avLst/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400" b="1">
                <a:solidFill>
                  <a:srgbClr val="D4A017"/>
                </a:solidFill>
                <a:latin typeface="Courier New"/>
              </a:defRPr>
            </a:pPr>
            <a:r>
              <a:t>COMPLETENESS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8288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100" b="0">
                <a:solidFill>
                  <a:srgbClr val="E5E5E5"/>
                </a:solidFill>
                <a:latin typeface="Courier New"/>
              </a:defRPr>
            </a:pPr>
            <a:r>
              <a:t>Subtraction / Missing Mass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000" b="0">
                <a:solidFill>
                  <a:srgbClr val="6A6A6A"/>
                </a:solidFill>
                <a:latin typeface="Courier New"/>
              </a:defRPr>
            </a:pPr>
            <a:r>
              <a:t>Low → carved-out voids, hollow gaps, geometry erased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017520"/>
            <a:ext cx="5303520" cy="1463040"/>
          </a:xfrm>
          <a:prstGeom prst="rect">
            <a:avLst/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2004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400" b="1">
                <a:solidFill>
                  <a:srgbClr val="D4A017"/>
                </a:solidFill>
                <a:latin typeface="Courier New"/>
              </a:defRPr>
            </a:pPr>
            <a:r>
              <a:t>STABILITY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5661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100" b="0">
                <a:solidFill>
                  <a:srgbClr val="E5E5E5"/>
                </a:solidFill>
                <a:latin typeface="Courier New"/>
              </a:defRPr>
            </a:pPr>
            <a:r>
              <a:t>Tilt / Center of Gravity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931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000" b="0">
                <a:solidFill>
                  <a:srgbClr val="6A6A6A"/>
                </a:solidFill>
                <a:latin typeface="Courier New"/>
              </a:defRPr>
            </a:pPr>
            <a:r>
              <a:t>Low → displaced from vertical, structural equilibrium broken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017520"/>
            <a:ext cx="5303520" cy="1463040"/>
          </a:xfrm>
          <a:prstGeom prst="rect">
            <a:avLst/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2004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400" b="1">
                <a:solidFill>
                  <a:srgbClr val="D4A017"/>
                </a:solidFill>
                <a:latin typeface="Courier New"/>
              </a:defRPr>
            </a:pPr>
            <a:r>
              <a:t>MISASSOCIATION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5661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100" b="0">
                <a:solidFill>
                  <a:srgbClr val="E5E5E5"/>
                </a:solidFill>
                <a:latin typeface="Courier New"/>
              </a:defRPr>
            </a:pPr>
            <a:r>
              <a:t>Collision / Hybridization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931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000" b="0">
                <a:solidFill>
                  <a:srgbClr val="6A6A6A"/>
                </a:solidFill>
                <a:latin typeface="Courier New"/>
              </a:defRPr>
            </a:pPr>
            <a:r>
              <a:t>High → objects merged wrongly, impossible material fusions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754880"/>
            <a:ext cx="5303520" cy="1463040"/>
          </a:xfrm>
          <a:prstGeom prst="rect">
            <a:avLst/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937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400" b="1">
                <a:solidFill>
                  <a:srgbClr val="D4A017"/>
                </a:solidFill>
                <a:latin typeface="Courier New"/>
              </a:defRPr>
            </a:pPr>
            <a:r>
              <a:t>VULNERABILITY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035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100" b="0">
                <a:solidFill>
                  <a:srgbClr val="E5E5E5"/>
                </a:solidFill>
                <a:latin typeface="Courier New"/>
              </a:defRPr>
            </a:pPr>
            <a:r>
              <a:t>Porosity / Shell Thickness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6692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000" b="0">
                <a:solidFill>
                  <a:srgbClr val="6A6A6A"/>
                </a:solidFill>
                <a:latin typeface="Courier New"/>
              </a:defRPr>
            </a:pPr>
            <a:r>
              <a:t>High → surfaces perforated, interior exposed, skin peeling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4754880"/>
            <a:ext cx="5303520" cy="1463040"/>
          </a:xfrm>
          <a:prstGeom prst="rect">
            <a:avLst/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937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400" b="1">
                <a:solidFill>
                  <a:srgbClr val="D4A017"/>
                </a:solidFill>
                <a:latin typeface="Courier New"/>
              </a:defRPr>
            </a:pPr>
            <a:r>
              <a:t>INTIMACY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53035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100" b="0">
                <a:solidFill>
                  <a:srgbClr val="E5E5E5"/>
                </a:solidFill>
                <a:latin typeface="Courier New"/>
              </a:defRPr>
            </a:pPr>
            <a:r>
              <a:t>Compression / Cavity Size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6692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000" b="0">
                <a:solidFill>
                  <a:srgbClr val="6A6A6A"/>
                </a:solidFill>
                <a:latin typeface="Courier New"/>
              </a:defRPr>
            </a:pPr>
            <a:r>
              <a:t>High → walls closing in, spatial scale crushed, claustrophobic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200" b="1">
                <a:solidFill>
                  <a:srgbClr val="D4A017"/>
                </a:solidFill>
                <a:latin typeface="Courier New"/>
              </a:defRPr>
            </a:pPr>
            <a:r>
              <a:t>PIPELINE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254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468880" cy="2286000"/>
          </a:xfrm>
          <a:prstGeom prst="rect">
            <a:avLst/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2400" b="1">
                <a:solidFill>
                  <a:srgbClr val="D4A017"/>
                </a:solidFill>
                <a:latin typeface="Courier New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300" b="1">
                <a:solidFill>
                  <a:srgbClr val="E5E5E5"/>
                </a:solidFill>
                <a:latin typeface="Courier New"/>
              </a:defRPr>
            </a:pPr>
            <a: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100" b="0">
                <a:solidFill>
                  <a:srgbClr val="6A6A6A"/>
                </a:solidFill>
                <a:latin typeface="Courier New"/>
              </a:defRPr>
            </a:pPr>
            <a:r>
              <a:t>Subject provides ID +</a:t>
            </a:r>
            <a:br/>
            <a:r>
              <a:t>subconsciousness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560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800" b="0">
                <a:solidFill>
                  <a:srgbClr val="D4A017"/>
                </a:solidFill>
                <a:latin typeface="Courier New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645920"/>
            <a:ext cx="2468880" cy="2286000"/>
          </a:xfrm>
          <a:prstGeom prst="rect">
            <a:avLst/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2400" b="1">
                <a:solidFill>
                  <a:srgbClr val="D4A017"/>
                </a:solidFill>
                <a:latin typeface="Courier New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3317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300" b="1">
                <a:solidFill>
                  <a:srgbClr val="E5E5E5"/>
                </a:solidFill>
                <a:latin typeface="Courier New"/>
              </a:defRPr>
            </a:pPr>
            <a:r>
              <a:t>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8346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100" b="0">
                <a:solidFill>
                  <a:srgbClr val="6A6A6A"/>
                </a:solidFill>
                <a:latin typeface="Courier New"/>
              </a:defRPr>
            </a:pPr>
            <a:r>
              <a:t>Claude extracts keywords</a:t>
            </a:r>
            <a:br/>
            <a:r>
              <a:t>+ scores 6 parameters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560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800" b="0">
                <a:solidFill>
                  <a:srgbClr val="D4A017"/>
                </a:solidFill>
                <a:latin typeface="Courier New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645920"/>
            <a:ext cx="2468880" cy="2286000"/>
          </a:xfrm>
          <a:prstGeom prst="rect">
            <a:avLst/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2400" b="1">
                <a:solidFill>
                  <a:srgbClr val="D4A017"/>
                </a:solidFill>
                <a:latin typeface="Courier New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3317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300" b="1">
                <a:solidFill>
                  <a:srgbClr val="E5E5E5"/>
                </a:solidFill>
                <a:latin typeface="Courier New"/>
              </a:defRPr>
            </a:pPr>
            <a:r>
              <a:t>NODE MAPPING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8346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100" b="0">
                <a:solidFill>
                  <a:srgbClr val="6A6A6A"/>
                </a:solidFill>
                <a:latin typeface="Courier New"/>
              </a:defRPr>
            </a:pPr>
            <a:r>
              <a:t>User wires keyword</a:t>
            </a:r>
            <a:br/>
            <a:r>
              <a:t>fragments to 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560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800" b="0">
                <a:solidFill>
                  <a:srgbClr val="D4A017"/>
                </a:solidFill>
                <a:latin typeface="Courier New"/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645920"/>
            <a:ext cx="2468880" cy="2286000"/>
          </a:xfrm>
          <a:prstGeom prst="rect">
            <a:avLst/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2400" b="1">
                <a:solidFill>
                  <a:srgbClr val="D4A017"/>
                </a:solidFill>
                <a:latin typeface="Courier New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23317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300" b="1">
                <a:solidFill>
                  <a:srgbClr val="E5E5E5"/>
                </a:solidFill>
                <a:latin typeface="Courier New"/>
              </a:defRPr>
            </a:pPr>
            <a:r>
              <a:t>GENERATION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28346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100" b="0">
                <a:solidFill>
                  <a:srgbClr val="6A6A6A"/>
                </a:solidFill>
                <a:latin typeface="Courier New"/>
              </a:defRPr>
            </a:pPr>
            <a:r>
              <a:t>Prompt builder → fal.ai</a:t>
            </a:r>
            <a:br/>
            <a:r>
              <a:t>Flux image generation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572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100" b="1">
                <a:solidFill>
                  <a:srgbClr val="D4A017"/>
                </a:solidFill>
                <a:latin typeface="Courier New"/>
              </a:defRPr>
            </a:pPr>
            <a:r>
              <a:t>DATA 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937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200" b="0">
                <a:solidFill>
                  <a:srgbClr val="6A6A6A"/>
                </a:solidFill>
                <a:latin typeface="Courier New"/>
              </a:defRPr>
            </a:pPr>
            <a:r>
              <a:t>[Text Input] → Claude API → [8-15 Keywords + 6 Scores] → [Interactive Canvas] → [User Connections] → [Prompt Builder] → [fal.ai Flux Schnell] → [Generated Image]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200" b="1">
                <a:solidFill>
                  <a:srgbClr val="D4A017"/>
                </a:solidFill>
                <a:latin typeface="Courier New"/>
              </a:defRPr>
            </a:pPr>
            <a:r>
              <a:t>NODE CANVAS — VISUAL PROGRAMMING INTERFACE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254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solidFill>
            <a:srgbClr val="0D0D0D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900" b="0">
                <a:solidFill>
                  <a:srgbClr val="6A6A6A"/>
                </a:solidFill>
                <a:latin typeface="Courier New"/>
              </a:defRPr>
            </a:pPr>
            <a:r>
              <a:t>KEYWORD FRAGMENTS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920240"/>
            <a:ext cx="1828800" cy="320040"/>
          </a:xfrm>
          <a:prstGeom prst="rect">
            <a:avLst/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94767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800" b="0">
                <a:solidFill>
                  <a:srgbClr val="E5E5E5"/>
                </a:solidFill>
                <a:latin typeface="Courier New"/>
              </a:defRPr>
            </a:pPr>
            <a:r>
              <a:t>OBJ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94767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000" b="0">
                <a:solidFill>
                  <a:srgbClr val="E5E5E5"/>
                </a:solidFill>
                <a:latin typeface="Courier New"/>
              </a:defRPr>
            </a:pPr>
            <a:r>
              <a:t>corridor</a:t>
            </a:r>
          </a:p>
        </p:txBody>
      </p:sp>
      <p:sp>
        <p:nvSpPr>
          <p:cNvPr id="9" name="Oval 8"/>
          <p:cNvSpPr/>
          <p:nvPr/>
        </p:nvSpPr>
        <p:spPr>
          <a:xfrm>
            <a:off x="2880360" y="2011680"/>
            <a:ext cx="137160" cy="137160"/>
          </a:xfrm>
          <a:prstGeom prst="ellipse">
            <a:avLst/>
          </a:prstGeom>
          <a:solidFill>
            <a:srgbClr val="262626"/>
          </a:solidFill>
          <a:ln w="127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" y="2304288"/>
            <a:ext cx="1828800" cy="320040"/>
          </a:xfrm>
          <a:prstGeom prst="rect">
            <a:avLst/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3317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800" b="0">
                <a:solidFill>
                  <a:srgbClr val="E5E5E5"/>
                </a:solidFill>
                <a:latin typeface="Courier New"/>
              </a:defRPr>
            </a:pPr>
            <a:r>
              <a:t>OBJ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3317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000" b="0">
                <a:solidFill>
                  <a:srgbClr val="E5E5E5"/>
                </a:solidFill>
                <a:latin typeface="Courier New"/>
              </a:defRPr>
            </a:pPr>
            <a:r>
              <a:t>window</a:t>
            </a:r>
          </a:p>
        </p:txBody>
      </p:sp>
      <p:sp>
        <p:nvSpPr>
          <p:cNvPr id="13" name="Oval 12"/>
          <p:cNvSpPr/>
          <p:nvPr/>
        </p:nvSpPr>
        <p:spPr>
          <a:xfrm>
            <a:off x="2880360" y="2395728"/>
            <a:ext cx="137160" cy="137160"/>
          </a:xfrm>
          <a:prstGeom prst="ellipse">
            <a:avLst/>
          </a:prstGeom>
          <a:solidFill>
            <a:srgbClr val="262626"/>
          </a:solidFill>
          <a:ln w="127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" y="2688336"/>
            <a:ext cx="1828800" cy="320040"/>
          </a:xfrm>
          <a:prstGeom prst="rect">
            <a:avLst/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7157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800" b="0">
                <a:solidFill>
                  <a:srgbClr val="E5E5E5"/>
                </a:solidFill>
                <a:latin typeface="Courier New"/>
              </a:defRPr>
            </a:pPr>
            <a:r>
              <a:t>OBJ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7157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000" b="0">
                <a:solidFill>
                  <a:srgbClr val="E5E5E5"/>
                </a:solidFill>
                <a:latin typeface="Courier New"/>
              </a:defRPr>
            </a:pPr>
            <a:r>
              <a:t>stove</a:t>
            </a:r>
          </a:p>
        </p:txBody>
      </p:sp>
      <p:sp>
        <p:nvSpPr>
          <p:cNvPr id="17" name="Oval 16"/>
          <p:cNvSpPr/>
          <p:nvPr/>
        </p:nvSpPr>
        <p:spPr>
          <a:xfrm>
            <a:off x="2880360" y="2779776"/>
            <a:ext cx="137160" cy="137160"/>
          </a:xfrm>
          <a:prstGeom prst="ellipse">
            <a:avLst/>
          </a:prstGeom>
          <a:solidFill>
            <a:srgbClr val="262626"/>
          </a:solidFill>
          <a:ln w="127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7280" y="3072384"/>
            <a:ext cx="1828800" cy="320040"/>
          </a:xfrm>
          <a:prstGeom prst="rect">
            <a:avLst/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099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800" b="0">
                <a:solidFill>
                  <a:srgbClr val="D4A017"/>
                </a:solidFill>
                <a:latin typeface="Courier New"/>
              </a:defRPr>
            </a:pPr>
            <a:r>
              <a:t>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099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000" b="0">
                <a:solidFill>
                  <a:srgbClr val="E5E5E5"/>
                </a:solidFill>
                <a:latin typeface="Courier New"/>
              </a:defRPr>
            </a:pPr>
            <a:r>
              <a:t>mother</a:t>
            </a:r>
          </a:p>
        </p:txBody>
      </p:sp>
      <p:sp>
        <p:nvSpPr>
          <p:cNvPr id="21" name="Oval 20"/>
          <p:cNvSpPr/>
          <p:nvPr/>
        </p:nvSpPr>
        <p:spPr>
          <a:xfrm>
            <a:off x="2880360" y="3163824"/>
            <a:ext cx="137160" cy="137160"/>
          </a:xfrm>
          <a:prstGeom prst="ellipse">
            <a:avLst/>
          </a:prstGeom>
          <a:solidFill>
            <a:srgbClr val="262626"/>
          </a:solidFill>
          <a:ln w="127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" y="3456432"/>
            <a:ext cx="1828800" cy="320040"/>
          </a:xfrm>
          <a:prstGeom prst="rect">
            <a:avLst/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348386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800" b="0">
                <a:solidFill>
                  <a:srgbClr val="8A8A8A"/>
                </a:solidFill>
                <a:latin typeface="Courier New"/>
              </a:defRPr>
            </a:pPr>
            <a:r>
              <a:t>EVT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348386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000" b="0">
                <a:solidFill>
                  <a:srgbClr val="E5E5E5"/>
                </a:solidFill>
                <a:latin typeface="Courier New"/>
              </a:defRPr>
            </a:pPr>
            <a:r>
              <a:t>shifting</a:t>
            </a:r>
          </a:p>
        </p:txBody>
      </p:sp>
      <p:sp>
        <p:nvSpPr>
          <p:cNvPr id="25" name="Oval 24"/>
          <p:cNvSpPr/>
          <p:nvPr/>
        </p:nvSpPr>
        <p:spPr>
          <a:xfrm>
            <a:off x="2880360" y="3547872"/>
            <a:ext cx="137160" cy="137160"/>
          </a:xfrm>
          <a:prstGeom prst="ellipse">
            <a:avLst/>
          </a:prstGeom>
          <a:solidFill>
            <a:srgbClr val="262626"/>
          </a:solidFill>
          <a:ln w="127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97280" y="3840480"/>
            <a:ext cx="1828800" cy="320040"/>
          </a:xfrm>
          <a:prstGeom prst="rect">
            <a:avLst/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386791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800" b="0">
                <a:solidFill>
                  <a:srgbClr val="6A6A6A"/>
                </a:solidFill>
                <a:latin typeface="Courier New"/>
              </a:defRPr>
            </a:pPr>
            <a:r>
              <a:t>SPA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38679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000" b="0">
                <a:solidFill>
                  <a:srgbClr val="E5E5E5"/>
                </a:solidFill>
                <a:latin typeface="Courier New"/>
              </a:defRPr>
            </a:pPr>
            <a:r>
              <a:t>narrow</a:t>
            </a:r>
          </a:p>
        </p:txBody>
      </p:sp>
      <p:sp>
        <p:nvSpPr>
          <p:cNvPr id="29" name="Oval 28"/>
          <p:cNvSpPr/>
          <p:nvPr/>
        </p:nvSpPr>
        <p:spPr>
          <a:xfrm>
            <a:off x="2880360" y="3931920"/>
            <a:ext cx="137160" cy="137160"/>
          </a:xfrm>
          <a:prstGeom prst="ellipse">
            <a:avLst/>
          </a:prstGeom>
          <a:solidFill>
            <a:srgbClr val="262626"/>
          </a:solidFill>
          <a:ln w="127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97280" y="4224528"/>
            <a:ext cx="1828800" cy="320040"/>
          </a:xfrm>
          <a:prstGeom prst="rect">
            <a:avLst/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4251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800" b="0">
                <a:solidFill>
                  <a:srgbClr val="6A6A6A"/>
                </a:solidFill>
                <a:latin typeface="Courier New"/>
              </a:defRPr>
            </a:pPr>
            <a:r>
              <a:t>SPA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4251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000" b="0">
                <a:solidFill>
                  <a:srgbClr val="E5E5E5"/>
                </a:solidFill>
                <a:latin typeface="Courier New"/>
              </a:defRPr>
            </a:pPr>
            <a:r>
              <a:t>impossibly high</a:t>
            </a:r>
          </a:p>
        </p:txBody>
      </p:sp>
      <p:sp>
        <p:nvSpPr>
          <p:cNvPr id="33" name="Oval 32"/>
          <p:cNvSpPr/>
          <p:nvPr/>
        </p:nvSpPr>
        <p:spPr>
          <a:xfrm>
            <a:off x="2880360" y="4315968"/>
            <a:ext cx="137160" cy="137160"/>
          </a:xfrm>
          <a:prstGeom prst="ellipse">
            <a:avLst/>
          </a:prstGeom>
          <a:solidFill>
            <a:srgbClr val="262626"/>
          </a:solidFill>
          <a:ln w="127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97280" y="4608576"/>
            <a:ext cx="1828800" cy="320040"/>
          </a:xfrm>
          <a:prstGeom prst="rect">
            <a:avLst/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88720" y="46360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800" b="0">
                <a:solidFill>
                  <a:srgbClr val="B8860B"/>
                </a:solidFill>
                <a:latin typeface="Courier New"/>
              </a:defRPr>
            </a:pPr>
            <a:r>
              <a:t>EXP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5920" y="463600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000" b="0">
                <a:solidFill>
                  <a:srgbClr val="E5E5E5"/>
                </a:solidFill>
                <a:latin typeface="Courier New"/>
              </a:defRPr>
            </a:pPr>
            <a:r>
              <a:t>fear</a:t>
            </a:r>
          </a:p>
        </p:txBody>
      </p:sp>
      <p:sp>
        <p:nvSpPr>
          <p:cNvPr id="37" name="Oval 36"/>
          <p:cNvSpPr/>
          <p:nvPr/>
        </p:nvSpPr>
        <p:spPr>
          <a:xfrm>
            <a:off x="2880360" y="4700016"/>
            <a:ext cx="137160" cy="137160"/>
          </a:xfrm>
          <a:prstGeom prst="ellipse">
            <a:avLst/>
          </a:prstGeom>
          <a:solidFill>
            <a:srgbClr val="262626"/>
          </a:solidFill>
          <a:ln w="127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97280" y="4992624"/>
            <a:ext cx="1828800" cy="320040"/>
          </a:xfrm>
          <a:prstGeom prst="rect">
            <a:avLst/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88720" y="502005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800" b="0">
                <a:solidFill>
                  <a:srgbClr val="B8860B"/>
                </a:solidFill>
                <a:latin typeface="Courier New"/>
              </a:defRPr>
            </a:pPr>
            <a:r>
              <a:t>EXP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45920" y="502005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000" b="0">
                <a:solidFill>
                  <a:srgbClr val="E5E5E5"/>
                </a:solidFill>
                <a:latin typeface="Courier New"/>
              </a:defRPr>
            </a:pPr>
            <a:r>
              <a:t>cold</a:t>
            </a:r>
          </a:p>
        </p:txBody>
      </p:sp>
      <p:sp>
        <p:nvSpPr>
          <p:cNvPr id="41" name="Oval 40"/>
          <p:cNvSpPr/>
          <p:nvPr/>
        </p:nvSpPr>
        <p:spPr>
          <a:xfrm>
            <a:off x="2880360" y="5084064"/>
            <a:ext cx="137160" cy="137160"/>
          </a:xfrm>
          <a:prstGeom prst="ellipse">
            <a:avLst/>
          </a:prstGeom>
          <a:solidFill>
            <a:srgbClr val="262626"/>
          </a:solidFill>
          <a:ln w="127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0" y="1554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900" b="0">
                <a:solidFill>
                  <a:srgbClr val="6A6A6A"/>
                </a:solidFill>
                <a:latin typeface="Courier New"/>
              </a:defRPr>
            </a:pPr>
            <a:r>
              <a:t>OPERATION NODES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1920240"/>
            <a:ext cx="2926080" cy="548640"/>
          </a:xfrm>
          <a:prstGeom prst="rect">
            <a:avLst/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092440" y="2103120"/>
            <a:ext cx="155448" cy="15544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0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000" b="1">
                <a:solidFill>
                  <a:srgbClr val="D4A017"/>
                </a:solidFill>
                <a:latin typeface="Courier New"/>
              </a:defRPr>
            </a:pPr>
            <a:r>
              <a:t>CLARITY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32720" y="1965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000" b="0">
                <a:solidFill>
                  <a:srgbClr val="E5E5E5"/>
                </a:solidFill>
                <a:latin typeface="Courier New"/>
              </a:defRPr>
            </a:pPr>
            <a:r>
              <a:t>0.72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12480" y="2286000"/>
            <a:ext cx="2011680" cy="73152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412480" y="2286000"/>
            <a:ext cx="1448409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229600" y="2578608"/>
            <a:ext cx="2926080" cy="548640"/>
          </a:xfrm>
          <a:prstGeom prst="rect">
            <a:avLst/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092440" y="2761488"/>
            <a:ext cx="155448" cy="15544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80" y="26243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000" b="1">
                <a:solidFill>
                  <a:srgbClr val="D4A017"/>
                </a:solidFill>
                <a:latin typeface="Courier New"/>
              </a:defRPr>
            </a:pPr>
            <a:r>
              <a:t>COMPLETENESS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32720" y="26243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000" b="0">
                <a:solidFill>
                  <a:srgbClr val="E5E5E5"/>
                </a:solidFill>
                <a:latin typeface="Courier New"/>
              </a:defRPr>
            </a:pPr>
            <a:r>
              <a:t>0.35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12480" y="2944368"/>
            <a:ext cx="2011680" cy="73152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12480" y="2944368"/>
            <a:ext cx="704088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229600" y="3236976"/>
            <a:ext cx="2926080" cy="548640"/>
          </a:xfrm>
          <a:prstGeom prst="rect">
            <a:avLst/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092440" y="3419856"/>
            <a:ext cx="155448" cy="15544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12480" y="32826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000" b="1">
                <a:solidFill>
                  <a:srgbClr val="D4A017"/>
                </a:solidFill>
                <a:latin typeface="Courier New"/>
              </a:defRPr>
            </a:pPr>
            <a:r>
              <a:t>STABILITY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2720" y="328269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000" b="0">
                <a:solidFill>
                  <a:srgbClr val="E5E5E5"/>
                </a:solidFill>
                <a:latin typeface="Courier New"/>
              </a:defRPr>
            </a:pPr>
            <a:r>
              <a:t>0.81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12480" y="3602736"/>
            <a:ext cx="2011680" cy="73152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412480" y="3602736"/>
            <a:ext cx="162946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229600" y="3895344"/>
            <a:ext cx="2926080" cy="548640"/>
          </a:xfrm>
          <a:prstGeom prst="rect">
            <a:avLst/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092440" y="4078224"/>
            <a:ext cx="155448" cy="15544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12480" y="39410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000" b="1">
                <a:solidFill>
                  <a:srgbClr val="D4A017"/>
                </a:solidFill>
                <a:latin typeface="Courier New"/>
              </a:defRPr>
            </a:pPr>
            <a:r>
              <a:t>MISASSOCIATION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32720" y="394106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000" b="0">
                <a:solidFill>
                  <a:srgbClr val="E5E5E5"/>
                </a:solidFill>
                <a:latin typeface="Courier New"/>
              </a:defRPr>
            </a:pPr>
            <a:r>
              <a:t>0.28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412480" y="4261104"/>
            <a:ext cx="2011680" cy="73152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412480" y="4261104"/>
            <a:ext cx="56327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229600" y="4553712"/>
            <a:ext cx="2926080" cy="548640"/>
          </a:xfrm>
          <a:prstGeom prst="rect">
            <a:avLst/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092440" y="4736592"/>
            <a:ext cx="155448" cy="15544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12480" y="45994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000" b="1">
                <a:solidFill>
                  <a:srgbClr val="D4A017"/>
                </a:solidFill>
                <a:latin typeface="Courier New"/>
              </a:defRPr>
            </a:pPr>
            <a:r>
              <a:t>VULNERABILITY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332720" y="459943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000" b="0">
                <a:solidFill>
                  <a:srgbClr val="E5E5E5"/>
                </a:solidFill>
                <a:latin typeface="Courier New"/>
              </a:defRPr>
            </a:pPr>
            <a:r>
              <a:t>0.55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412480" y="4919472"/>
            <a:ext cx="2011680" cy="73152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412480" y="4919472"/>
            <a:ext cx="1106424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29600" y="5212080"/>
            <a:ext cx="2926080" cy="548640"/>
          </a:xfrm>
          <a:prstGeom prst="rect">
            <a:avLst/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092440" y="5394960"/>
            <a:ext cx="155448" cy="15544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412480" y="5257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000" b="1">
                <a:solidFill>
                  <a:srgbClr val="D4A017"/>
                </a:solidFill>
                <a:latin typeface="Courier New"/>
              </a:defRPr>
            </a:pPr>
            <a:r>
              <a:t>INTIMACY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332720" y="5257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000" b="0">
                <a:solidFill>
                  <a:srgbClr val="E5E5E5"/>
                </a:solidFill>
                <a:latin typeface="Courier New"/>
              </a:defRPr>
            </a:pPr>
            <a:r>
              <a:t>0.67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412480" y="5577840"/>
            <a:ext cx="2011680" cy="73152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12480" y="5577840"/>
            <a:ext cx="1347825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657600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"/>
              </a:spcAft>
              <a:defRPr sz="1100" b="0">
                <a:solidFill>
                  <a:srgbClr val="D4A017"/>
                </a:solidFill>
                <a:latin typeface="Courier New"/>
              </a:defRPr>
            </a:pPr>
            <a:r>
              <a:t>← BEZIER WIRE CONNECTIONS →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57600" y="3657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"/>
              </a:spcAft>
              <a:defRPr sz="1000" b="0">
                <a:solidFill>
                  <a:srgbClr val="6A6A6A"/>
                </a:solidFill>
                <a:latin typeface="Courier New"/>
              </a:defRPr>
            </a:pPr>
            <a:r>
              <a:t>User drags from keyword ports</a:t>
            </a:r>
            <a:br/>
            <a:r>
              <a:t>to operation input ports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"/>
              </a:spcAft>
              <a:defRPr sz="1000" b="0">
                <a:solidFill>
                  <a:srgbClr val="6A6A6A"/>
                </a:solidFill>
                <a:latin typeface="Courier New"/>
              </a:defRPr>
            </a:pPr>
            <a:r>
              <a:t>DRAG keywords freely  |  WIRE to operations  |  DELETE to remove  |  Multiple connections allowed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200" b="1">
                <a:solidFill>
                  <a:srgbClr val="D4A017"/>
                </a:solidFill>
                <a:latin typeface="Courier New"/>
              </a:defRPr>
            </a:pPr>
            <a:r>
              <a:t>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254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303520" cy="1097280"/>
          </a:xfrm>
          <a:prstGeom prst="rect">
            <a:avLst/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087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000" b="1">
                <a:solidFill>
                  <a:srgbClr val="D4A017"/>
                </a:solidFill>
                <a:latin typeface="Courier New"/>
              </a:defRPr>
            </a:pPr>
            <a:r>
              <a:t>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100" b="0">
                <a:solidFill>
                  <a:srgbClr val="E5E5E5"/>
                </a:solidFill>
                <a:latin typeface="Courier New"/>
              </a:defRPr>
            </a:pPr>
            <a:r>
              <a:t>Next.js 15 + TypeScript + Tailwind CSS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51760"/>
            <a:ext cx="5303520" cy="1097280"/>
          </a:xfrm>
          <a:prstGeom prst="rect">
            <a:avLst/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000" b="1">
                <a:solidFill>
                  <a:srgbClr val="D4A017"/>
                </a:solidFill>
                <a:latin typeface="Courier New"/>
              </a:defRPr>
            </a:pPr>
            <a:r>
              <a:t>UI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089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100" b="0">
                <a:solidFill>
                  <a:srgbClr val="E5E5E5"/>
                </a:solidFill>
                <a:latin typeface="Courier New"/>
              </a:defRPr>
            </a:pPr>
            <a:r>
              <a:t>React 19 — pointer events + SVG wires</a:t>
            </a:r>
            <a:br/>
            <a:r>
              <a:t>No external node-graph libraries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931920"/>
            <a:ext cx="5303520" cy="1097280"/>
          </a:xfrm>
          <a:prstGeom prst="rect">
            <a:avLst/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0690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000" b="1">
                <a:solidFill>
                  <a:srgbClr val="D4A017"/>
                </a:solidFill>
                <a:latin typeface="Courier New"/>
              </a:defRPr>
            </a:pPr>
            <a:r>
              <a:t>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891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100" b="0">
                <a:solidFill>
                  <a:srgbClr val="E5E5E5"/>
                </a:solidFill>
                <a:latin typeface="Courier New"/>
              </a:defRPr>
            </a:pPr>
            <a:r>
              <a:t>useReducer — session state + canvas state</a:t>
            </a:r>
            <a:br/>
            <a:r>
              <a:t>isolated for performance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212080"/>
            <a:ext cx="5303520" cy="1097280"/>
          </a:xfrm>
          <a:prstGeom prst="rect">
            <a:avLst/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000" b="1">
                <a:solidFill>
                  <a:srgbClr val="D4A017"/>
                </a:solidFill>
                <a:latin typeface="Courier New"/>
              </a:defRPr>
            </a:pPr>
            <a:r>
              <a:t>STYLING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6692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100" b="0">
                <a:solidFill>
                  <a:srgbClr val="E5E5E5"/>
                </a:solidFill>
                <a:latin typeface="Courier New"/>
              </a:defRPr>
            </a:pPr>
            <a:r>
              <a:t>Dark clinical aesthetic</a:t>
            </a:r>
            <a:br/>
            <a:r>
              <a:t>#0A0A0A / #D4A017 / Courier New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371600"/>
            <a:ext cx="5303520" cy="1097280"/>
          </a:xfrm>
          <a:prstGeom prst="rect">
            <a:avLst/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5087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000" b="1">
                <a:solidFill>
                  <a:srgbClr val="D4A017"/>
                </a:solidFill>
                <a:latin typeface="Courier New"/>
              </a:defRPr>
            </a:pPr>
            <a:r>
              <a:t>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8288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100" b="0">
                <a:solidFill>
                  <a:srgbClr val="E5E5E5"/>
                </a:solidFill>
                <a:latin typeface="Courier New"/>
              </a:defRPr>
            </a:pPr>
            <a:r>
              <a:t>Claude API (Sonnet / Haiku)</a:t>
            </a:r>
            <a:br/>
            <a:r>
              <a:t>Keyword extraction + 6-parameter scoring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651760"/>
            <a:ext cx="5303520" cy="1097280"/>
          </a:xfrm>
          <a:prstGeom prst="rect">
            <a:avLst/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788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000" b="1">
                <a:solidFill>
                  <a:srgbClr val="D4A017"/>
                </a:solidFill>
                <a:latin typeface="Courier New"/>
              </a:defRPr>
            </a:pPr>
            <a:r>
              <a:t>GENERATION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1089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100" b="0">
                <a:solidFill>
                  <a:srgbClr val="E5E5E5"/>
                </a:solidFill>
                <a:latin typeface="Courier New"/>
              </a:defRPr>
            </a:pPr>
            <a:r>
              <a:t>fal.ai — Flux Schnell (dev)</a:t>
            </a:r>
            <a:br/>
            <a:r>
              <a:t>Flux Pro for production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931920"/>
            <a:ext cx="5303520" cy="1097280"/>
          </a:xfrm>
          <a:prstGeom prst="rect">
            <a:avLst/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40690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000" b="1">
                <a:solidFill>
                  <a:srgbClr val="D4A017"/>
                </a:solidFill>
                <a:latin typeface="Courier New"/>
              </a:defRPr>
            </a:pPr>
            <a:r>
              <a:t>HOSTING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3891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100" b="0">
                <a:solidFill>
                  <a:srgbClr val="E5E5E5"/>
                </a:solidFill>
                <a:latin typeface="Courier New"/>
              </a:defRPr>
            </a:pPr>
            <a:r>
              <a:t>Vercel (to be deployed)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5212080"/>
            <a:ext cx="5303520" cy="1097280"/>
          </a:xfrm>
          <a:prstGeom prst="rect">
            <a:avLst/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53492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000" b="1">
                <a:solidFill>
                  <a:srgbClr val="D4A017"/>
                </a:solidFill>
                <a:latin typeface="Courier New"/>
              </a:defRPr>
            </a:pPr>
            <a:r>
              <a:t>REPOSITORY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6692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100" b="0">
                <a:solidFill>
                  <a:srgbClr val="E5E5E5"/>
                </a:solidFill>
                <a:latin typeface="Courier New"/>
              </a:defRPr>
            </a:pPr>
            <a:r>
              <a:t>GitHub — ZawYeHtet2001/Glitch_CML_project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200" b="1">
                <a:solidFill>
                  <a:srgbClr val="D4A017"/>
                </a:solidFill>
                <a:latin typeface="Courier New"/>
              </a:defRPr>
            </a:pPr>
            <a:r>
              <a:t>STATUS +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254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303520" cy="4572000"/>
          </a:xfrm>
          <a:prstGeom prst="rect">
            <a:avLst/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100" b="1">
                <a:solidFill>
                  <a:srgbClr val="D4A017"/>
                </a:solidFill>
                <a:latin typeface="Courier New"/>
              </a:defRPr>
            </a:pPr>
            <a:r>
              <a:t>COMPLETED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E5E5E5"/>
                </a:solidFill>
                <a:latin typeface="Courier New"/>
              </a:defRPr>
            </a:pPr>
            <a:r>
              <a:t>[+] v1 pipeline (2026-03-28)</a:t>
            </a:r>
          </a:p>
          <a:p>
            <a:pPr>
              <a:spcAft>
                <a:spcPts val="600"/>
              </a:spcAft>
              <a:defRPr sz="1100">
                <a:solidFill>
                  <a:srgbClr val="E5E5E5"/>
                </a:solidFill>
                <a:latin typeface="Courier New"/>
              </a:defRPr>
            </a:pPr>
            <a:r>
              <a:t>    Full end-to-end: input → analysis → image → video</a:t>
            </a:r>
          </a:p>
          <a:p>
            <a:pPr>
              <a:spcAft>
                <a:spcPts val="600"/>
              </a:spcAft>
              <a:defRPr sz="1100">
                <a:solidFill>
                  <a:srgbClr val="E5E5E5"/>
                </a:solidFill>
                <a:latin typeface="Courier New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E5E5E5"/>
                </a:solidFill>
                <a:latin typeface="Courier New"/>
              </a:defRPr>
            </a:pPr>
            <a:r>
              <a:t>[+] v2 pivot (2026-04-14)</a:t>
            </a:r>
          </a:p>
          <a:p>
            <a:pPr>
              <a:spcAft>
                <a:spcPts val="600"/>
              </a:spcAft>
              <a:defRPr sz="1100">
                <a:solidFill>
                  <a:srgbClr val="E5E5E5"/>
                </a:solidFill>
                <a:latin typeface="Courier New"/>
              </a:defRPr>
            </a:pPr>
            <a:r>
              <a:t>    Node-based visual programming UI</a:t>
            </a:r>
          </a:p>
          <a:p>
            <a:pPr>
              <a:spcAft>
                <a:spcPts val="600"/>
              </a:spcAft>
              <a:defRPr sz="1100">
                <a:solidFill>
                  <a:srgbClr val="E5E5E5"/>
                </a:solidFill>
                <a:latin typeface="Courier New"/>
              </a:defRPr>
            </a:pPr>
            <a:r>
              <a:t>    6-parameter scoring system</a:t>
            </a:r>
          </a:p>
          <a:p>
            <a:pPr>
              <a:spcAft>
                <a:spcPts val="600"/>
              </a:spcAft>
              <a:defRPr sz="1100">
                <a:solidFill>
                  <a:srgbClr val="E5E5E5"/>
                </a:solidFill>
                <a:latin typeface="Courier New"/>
              </a:defRPr>
            </a:pPr>
            <a:r>
              <a:t>    Keyword extraction from text</a:t>
            </a:r>
          </a:p>
          <a:p>
            <a:pPr>
              <a:spcAft>
                <a:spcPts val="600"/>
              </a:spcAft>
              <a:defRPr sz="1100">
                <a:solidFill>
                  <a:srgbClr val="E5E5E5"/>
                </a:solidFill>
                <a:latin typeface="Courier New"/>
              </a:defRPr>
            </a:pPr>
            <a:r>
              <a:t>    Interactive canvas with drag + wire</a:t>
            </a:r>
          </a:p>
          <a:p>
            <a:pPr>
              <a:spcAft>
                <a:spcPts val="600"/>
              </a:spcAft>
              <a:defRPr sz="1100">
                <a:solidFill>
                  <a:srgbClr val="E5E5E5"/>
                </a:solidFill>
                <a:latin typeface="Courier New"/>
              </a:defRPr>
            </a:pPr>
            <a:r>
              <a:t>    Prompt builder (connections → image)</a:t>
            </a:r>
          </a:p>
          <a:p>
            <a:pPr>
              <a:spcAft>
                <a:spcPts val="600"/>
              </a:spcAft>
              <a:defRPr sz="1100">
                <a:solidFill>
                  <a:srgbClr val="E5E5E5"/>
                </a:solidFill>
                <a:latin typeface="Courier New"/>
              </a:defRPr>
            </a:pPr>
            <a:r>
              <a:t>    Clean TypeScript build, zero errors</a:t>
            </a:r>
          </a:p>
          <a:p>
            <a:pPr>
              <a:spcAft>
                <a:spcPts val="600"/>
              </a:spcAft>
              <a:defRPr sz="1100">
                <a:solidFill>
                  <a:srgbClr val="E5E5E5"/>
                </a:solidFill>
                <a:latin typeface="Courier New"/>
              </a:defRPr>
            </a:pPr>
            <a:r>
              <a:t>    Pushed to GitHub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71600"/>
            <a:ext cx="5303520" cy="4572000"/>
          </a:xfrm>
          <a:prstGeom prst="rect">
            <a:avLst/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100" b="1">
                <a:solidFill>
                  <a:srgbClr val="D4A017"/>
                </a:solidFill>
                <a:latin typeface="Courier New"/>
              </a:defRPr>
            </a:pPr>
            <a:r>
              <a:t>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E5E5E5"/>
                </a:solidFill>
                <a:latin typeface="Courier New"/>
              </a:defRPr>
            </a:pPr>
            <a:r>
              <a:t>[ ] Test full pipeline end-to-end</a:t>
            </a:r>
          </a:p>
          <a:p>
            <a:pPr>
              <a:spcAft>
                <a:spcPts val="600"/>
              </a:spcAft>
              <a:defRPr sz="1100">
                <a:solidFill>
                  <a:srgbClr val="E5E5E5"/>
                </a:solidFill>
                <a:latin typeface="Courier New"/>
              </a:defRPr>
            </a:pPr>
            <a:r>
              <a:t>    (Claude API currently overloaded)</a:t>
            </a:r>
          </a:p>
          <a:p>
            <a:pPr>
              <a:spcAft>
                <a:spcPts val="600"/>
              </a:spcAft>
              <a:defRPr sz="1100">
                <a:solidFill>
                  <a:srgbClr val="E5E5E5"/>
                </a:solidFill>
                <a:latin typeface="Courier New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E5E5E5"/>
                </a:solidFill>
                <a:latin typeface="Courier New"/>
              </a:defRPr>
            </a:pPr>
            <a:r>
              <a:t>[ ] Collect narratives from all 4 members</a:t>
            </a:r>
          </a:p>
          <a:p>
            <a:pPr>
              <a:spcAft>
                <a:spcPts val="600"/>
              </a:spcAft>
              <a:defRPr sz="1100">
                <a:solidFill>
                  <a:srgbClr val="E5E5E5"/>
                </a:solidFill>
                <a:latin typeface="Courier New"/>
              </a:defRPr>
            </a:pPr>
            <a:r>
              <a:t>    JW, NT, VP, ZH</a:t>
            </a:r>
          </a:p>
          <a:p>
            <a:pPr>
              <a:spcAft>
                <a:spcPts val="600"/>
              </a:spcAft>
              <a:defRPr sz="1100">
                <a:solidFill>
                  <a:srgbClr val="E5E5E5"/>
                </a:solidFill>
                <a:latin typeface="Courier New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E5E5E5"/>
                </a:solidFill>
                <a:latin typeface="Courier New"/>
              </a:defRPr>
            </a:pPr>
            <a:r>
              <a:t>[ ] Tune Claude prompt for better keywords</a:t>
            </a:r>
          </a:p>
          <a:p>
            <a:pPr>
              <a:spcAft>
                <a:spcPts val="600"/>
              </a:spcAft>
              <a:defRPr sz="1100">
                <a:solidFill>
                  <a:srgbClr val="E5E5E5"/>
                </a:solidFill>
                <a:latin typeface="Courier New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E5E5E5"/>
                </a:solidFill>
                <a:latin typeface="Courier New"/>
              </a:defRPr>
            </a:pPr>
            <a:r>
              <a:t>[ ] Polish canvas UI</a:t>
            </a:r>
          </a:p>
          <a:p>
            <a:pPr>
              <a:spcAft>
                <a:spcPts val="600"/>
              </a:spcAft>
              <a:defRPr sz="1100">
                <a:solidFill>
                  <a:srgbClr val="E5E5E5"/>
                </a:solidFill>
                <a:latin typeface="Courier New"/>
              </a:defRPr>
            </a:pPr>
            <a:r>
              <a:t>    Hover effects, animations, layout</a:t>
            </a:r>
          </a:p>
          <a:p>
            <a:pPr>
              <a:spcAft>
                <a:spcPts val="600"/>
              </a:spcAft>
              <a:defRPr sz="1100">
                <a:solidFill>
                  <a:srgbClr val="E5E5E5"/>
                </a:solidFill>
                <a:latin typeface="Courier New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E5E5E5"/>
                </a:solidFill>
                <a:latin typeface="Courier New"/>
              </a:defRPr>
            </a:pPr>
            <a:r>
              <a:t>[ ] 3D cube output</a:t>
            </a:r>
          </a:p>
          <a:p>
            <a:pPr>
              <a:spcAft>
                <a:spcPts val="600"/>
              </a:spcAft>
              <a:defRPr sz="1100">
                <a:solidFill>
                  <a:srgbClr val="E5E5E5"/>
                </a:solidFill>
                <a:latin typeface="Courier New"/>
              </a:defRPr>
            </a:pPr>
            <a:r>
              <a:t>    Parameters → geometric deformation</a:t>
            </a:r>
          </a:p>
          <a:p>
            <a:pPr>
              <a:spcAft>
                <a:spcPts val="600"/>
              </a:spcAft>
              <a:defRPr sz="1100">
                <a:solidFill>
                  <a:srgbClr val="E5E5E5"/>
                </a:solidFill>
                <a:latin typeface="Courier New"/>
              </a:defRPr>
            </a:pPr>
            <a:r>
              <a:t>    Physical artifact for exhibition</a:t>
            </a:r>
          </a:p>
          <a:p>
            <a:pPr>
              <a:spcAft>
                <a:spcPts val="600"/>
              </a:spcAft>
              <a:defRPr sz="1100">
                <a:solidFill>
                  <a:srgbClr val="E5E5E5"/>
                </a:solidFill>
                <a:latin typeface="Courier New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E5E5E5"/>
                </a:solidFill>
                <a:latin typeface="Courier New"/>
              </a:defRPr>
            </a:pPr>
            <a:r>
              <a:t>[ ] Deploy to Vercel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200" b="1">
                <a:solidFill>
                  <a:srgbClr val="D4A017"/>
                </a:solidFill>
                <a:latin typeface="Courier New"/>
              </a:defRPr>
            </a:pPr>
            <a:r>
              <a:t>TEAM ACTION ITEMS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254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2000" b="1">
                <a:solidFill>
                  <a:srgbClr val="E5E5E5"/>
                </a:solidFill>
                <a:latin typeface="Courier New"/>
              </a:defRPr>
            </a:pPr>
            <a:r>
              <a:t>Each team member: write a 100-200 word subconsciousness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300" b="0">
                <a:solidFill>
                  <a:srgbClr val="6A6A6A"/>
                </a:solidFill>
                <a:latin typeface="Courier New"/>
              </a:defRPr>
            </a:pPr>
            <a:r>
              <a:t>Describe a remembered spatial experience — a place from memory, dream, or somewhere in between. Focus on architecture, objects, people, sensations, and how the space felt. The more specific and concrete, the better the keyword extraction.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74720"/>
            <a:ext cx="2468880" cy="1371600"/>
          </a:xfrm>
          <a:prstGeom prst="rect">
            <a:avLst/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657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2200" b="1">
                <a:solidFill>
                  <a:srgbClr val="D4A017"/>
                </a:solidFill>
                <a:latin typeface="Courier New"/>
              </a:defRPr>
            </a:pPr>
            <a:r>
              <a:t>JW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062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100" b="0">
                <a:solidFill>
                  <a:srgbClr val="E5E5E5"/>
                </a:solidFill>
                <a:latin typeface="Courier New"/>
              </a:defRPr>
            </a:pPr>
            <a:r>
              <a:t>Write subconsciousness 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3474720"/>
            <a:ext cx="2468880" cy="1371600"/>
          </a:xfrm>
          <a:prstGeom prst="rect">
            <a:avLst/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3657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2200" b="1">
                <a:solidFill>
                  <a:srgbClr val="D4A017"/>
                </a:solidFill>
                <a:latin typeface="Courier New"/>
              </a:defRPr>
            </a:pPr>
            <a:r>
              <a:t>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42062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100" b="0">
                <a:solidFill>
                  <a:srgbClr val="E5E5E5"/>
                </a:solidFill>
                <a:latin typeface="Courier New"/>
              </a:defRPr>
            </a:pPr>
            <a:r>
              <a:t>Write subconsciousness text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474720"/>
            <a:ext cx="2468880" cy="1371600"/>
          </a:xfrm>
          <a:prstGeom prst="rect">
            <a:avLst/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3657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2200" b="1">
                <a:solidFill>
                  <a:srgbClr val="D4A017"/>
                </a:solidFill>
                <a:latin typeface="Courier New"/>
              </a:defRPr>
            </a:pPr>
            <a:r>
              <a:t>VP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2062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100" b="0">
                <a:solidFill>
                  <a:srgbClr val="E5E5E5"/>
                </a:solidFill>
                <a:latin typeface="Courier New"/>
              </a:defRPr>
            </a:pPr>
            <a:r>
              <a:t>Write subconsciousness text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3474720"/>
            <a:ext cx="2468880" cy="1371600"/>
          </a:xfrm>
          <a:prstGeom prst="rect">
            <a:avLst/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3657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2200" b="1">
                <a:solidFill>
                  <a:srgbClr val="D4A017"/>
                </a:solidFill>
                <a:latin typeface="Courier New"/>
              </a:defRPr>
            </a:pPr>
            <a:r>
              <a:t>ZH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42062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100" b="0">
                <a:solidFill>
                  <a:srgbClr val="E5E5E5"/>
                </a:solidFill>
                <a:latin typeface="Courier New"/>
              </a:defRPr>
            </a:pPr>
            <a:r>
              <a:t>Write text + continue dev (prompts, 3D)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"/>
              </a:spcAft>
              <a:defRPr sz="1200" b="0">
                <a:solidFill>
                  <a:srgbClr val="6A6A6A"/>
                </a:solidFill>
                <a:latin typeface="Courier New"/>
              </a:defRPr>
            </a:pPr>
            <a:r>
              <a:t>Try it: http://localhost:3000  |  Repo: github.com/ZawYeHtet2001/Glitch_CML_project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